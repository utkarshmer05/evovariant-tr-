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93B"/>
                </a:solidFill>
              </a:defRPr>
            </a:pPr>
            <a:r>
              <a:t>VELLORE INSTITUTE OF TECHNOLOGY — CHENNAI</a:t>
            </a:r>
          </a:p>
          <a:p>
            <a:pPr algn="ctr">
              <a:spcBef>
                <a:spcPts val="400"/>
              </a:spcBef>
              <a:defRPr sz="1300">
                <a:solidFill>
                  <a:srgbClr val="64748B"/>
                </a:solidFill>
              </a:defRPr>
            </a:pPr>
            <a:r>
              <a:t>School of Computer Science and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</a:defRPr>
            </a:pPr>
            <a:r>
              <a:t>B.Tech BCSE497J - Project - I</a:t>
            </a:r>
          </a:p>
          <a:p>
            <a:pPr algn="ctr">
              <a:spcBef>
                <a:spcPts val="800"/>
              </a:spcBef>
              <a:defRPr sz="1800" b="1">
                <a:solidFill>
                  <a:srgbClr val="EB5E41"/>
                </a:solidFill>
              </a:defRPr>
            </a:pPr>
            <a:r>
              <a:t>REVIEW III – PANEL REVIEW</a:t>
            </a:r>
          </a:p>
          <a:p>
            <a:pPr algn="ctr">
              <a:spcBef>
                <a:spcPts val="800"/>
              </a:spcBef>
              <a:defRPr sz="1600">
                <a:solidFill>
                  <a:srgbClr val="1B263B"/>
                </a:solidFill>
              </a:defRPr>
            </a:pPr>
            <a:r>
              <a:t>EvoVariant: Zero-Shot DNA Foundation Model Platform for Human Genetic Variant Effect Prediction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560320" y="4297680"/>
            <a:ext cx="70408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0" y="438912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EA5A4"/>
                </a:solidFill>
              </a:defRPr>
            </a:pPr>
            <a:r>
              <a:t>PROJECT TEAM MEMBERS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1B263B"/>
                </a:solidFill>
              </a:defRPr>
            </a:pPr>
            <a:r>
              <a:t>➢  Utkarsh Khajuria — 23BCE5053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1B263B"/>
                </a:solidFill>
              </a:defRPr>
            </a:pPr>
            <a:r>
              <a:t>➢  Atharv Shiva Hiremath — 23BCE1460</a:t>
            </a:r>
          </a:p>
          <a:p>
            <a:pPr algn="ctr">
              <a:spcBef>
                <a:spcPts val="400"/>
              </a:spcBef>
              <a:defRPr sz="1300" b="1">
                <a:solidFill>
                  <a:srgbClr val="1B263B"/>
                </a:solidFill>
              </a:defRPr>
            </a:pPr>
            <a:r>
              <a:t>➢  Aryan Mishra — 23BCE1860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A4"/>
                </a:solidFill>
              </a:defRPr>
            </a:pPr>
            <a:r>
              <a:t>PROJECT PROGRESSION</a:t>
            </a:r>
          </a:p>
          <a:p>
            <a:pPr>
              <a:spcBef>
                <a:spcPts val="400"/>
              </a:spcBef>
              <a:defRPr sz="2300" b="1">
                <a:solidFill>
                  <a:srgbClr val="1B263B"/>
                </a:solidFill>
              </a:defRPr>
            </a:pPr>
            <a:r>
              <a:t>Executive Summary: Moving from Proposal to Executed Reality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64748B"/>
                </a:solidFill>
              </a:defRPr>
            </a:pPr>
            <a:r>
              <a:t>REVIEW II STATUS</a:t>
            </a:r>
          </a:p>
          <a:p>
            <a:pPr>
              <a:spcBef>
                <a:spcPts val="800"/>
              </a:spcBef>
              <a:defRPr sz="1100">
                <a:solidFill>
                  <a:srgbClr val="1B263B"/>
                </a:solidFill>
              </a:defRPr>
            </a:pPr>
            <a:r>
              <a:t>• Conceptual Architecture: 14 modules planned (M1–M14).</a:t>
            </a:r>
          </a:p>
          <a:p>
            <a:pPr>
              <a:spcBef>
                <a:spcPts val="800"/>
              </a:spcBef>
              <a:defRPr sz="1100">
                <a:solidFill>
                  <a:srgbClr val="1B263B"/>
                </a:solidFill>
              </a:defRPr>
            </a:pPr>
            <a:r>
              <a:t>• Problem Identified: VUS (Variants of Uncertain Significance) clinical bottleneck.</a:t>
            </a:r>
          </a:p>
          <a:p>
            <a:pPr>
              <a:spcBef>
                <a:spcPts val="800"/>
              </a:spcBef>
              <a:defRPr sz="1100">
                <a:solidFill>
                  <a:srgbClr val="1B263B"/>
                </a:solidFill>
              </a:defRPr>
            </a:pPr>
            <a:r>
              <a:t>• Protocol Formulation: Frozen v1.0.1 forward-looking protocol.</a:t>
            </a:r>
          </a:p>
          <a:p>
            <a:pPr>
              <a:spcBef>
                <a:spcPts val="800"/>
              </a:spcBef>
              <a:defRPr sz="1100">
                <a:solidFill>
                  <a:srgbClr val="1B263B"/>
                </a:solidFill>
              </a:defRPr>
            </a:pPr>
            <a:r>
              <a:t>• Dataset Curation: 1,024 temporal ClinVar SNVs &amp; 1.22M calibration variants curated.</a:t>
            </a:r>
          </a:p>
          <a:p>
            <a:pPr>
              <a:spcBef>
                <a:spcPts val="800"/>
              </a:spcBef>
              <a:defRPr sz="1100">
                <a:solidFill>
                  <a:srgbClr val="1B263B"/>
                </a:solidFill>
              </a:defRPr>
            </a:pPr>
            <a:r>
              <a:t>• Status at Review II: 'Scoring pending, comparator evaluation pending, UI evolving'.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5E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EB5E41"/>
                </a:solidFill>
              </a:defRPr>
            </a:pPr>
            <a:r>
              <a:t>REVIEW III DELIVERABLES (TODAY)</a:t>
            </a:r>
          </a:p>
          <a:p>
            <a:pPr>
              <a:spcBef>
                <a:spcPts val="600"/>
              </a:spcBef>
              <a:defRPr sz="1100">
                <a:solidFill>
                  <a:srgbClr val="1B263B"/>
                </a:solidFill>
              </a:defRPr>
            </a:pPr>
            <a:r>
              <a:t>✓ Working Full-Stack System: Live Next.js 15 interactive web platform.</a:t>
            </a:r>
          </a:p>
          <a:p>
            <a:pPr>
              <a:spcBef>
                <a:spcPts val="600"/>
              </a:spcBef>
              <a:defRPr sz="1100">
                <a:solidFill>
                  <a:srgbClr val="1B263B"/>
                </a:solidFill>
              </a:defRPr>
            </a:pPr>
            <a:r>
              <a:t>✓ Live GPU Inference Engine: Deployed Modal Serverless H100 GPU running Evo 2 7B.</a:t>
            </a:r>
          </a:p>
          <a:p>
            <a:pPr>
              <a:spcBef>
                <a:spcPts val="600"/>
              </a:spcBef>
              <a:defRPr sz="1100">
                <a:solidFill>
                  <a:srgbClr val="1B263B"/>
                </a:solidFill>
              </a:defRPr>
            </a:pPr>
            <a:r>
              <a:t>✓ End-to-End Execution: Real-time UCSC sequence extraction + likelihood scoring (~2.7s).</a:t>
            </a:r>
          </a:p>
          <a:p>
            <a:pPr>
              <a:spcBef>
                <a:spcPts val="600"/>
              </a:spcBef>
              <a:defRPr sz="1100">
                <a:solidFill>
                  <a:srgbClr val="1B263B"/>
                </a:solidFill>
              </a:defRPr>
            </a:pPr>
            <a:r>
              <a:t>✓ Empirical Benchmark Audit: 100-variant gold-standard BRCA1 run (100% success rate).</a:t>
            </a:r>
          </a:p>
          <a:p>
            <a:pPr>
              <a:spcBef>
                <a:spcPts val="600"/>
              </a:spcBef>
              <a:defRPr sz="1100">
                <a:solidFill>
                  <a:srgbClr val="1B263B"/>
                </a:solidFill>
              </a:defRPr>
            </a:pPr>
            <a:r>
              <a:t>✓ Key Interim Metrics: 90.0% accuracy, 0.9309 AUROC, 75.0% recall, 92.0% specificity.</a:t>
            </a:r>
          </a:p>
          <a:p>
            <a:pPr>
              <a:spcBef>
                <a:spcPts val="600"/>
              </a:spcBef>
              <a:defRPr sz="1100">
                <a:solidFill>
                  <a:srgbClr val="1B263B"/>
                </a:solidFill>
              </a:defRPr>
            </a:pPr>
            <a:r>
              <a:t>✓ 570 Passing Tests: Verified across unit, contract, integration, and scientific tiers.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A5A4"/>
                </a:solidFill>
              </a:defRPr>
            </a:pPr>
            <a:r>
              <a:t>ROADMAP TO FINAL REVIEW</a:t>
            </a:r>
          </a:p>
          <a:p>
            <a:pPr>
              <a:spcBef>
                <a:spcPts val="800"/>
              </a:spcBef>
              <a:defRPr sz="1100">
                <a:solidFill>
                  <a:srgbClr val="1B263B"/>
                </a:solidFill>
              </a:defRPr>
            </a:pPr>
            <a:r>
              <a:t>→ Full 1,024-Variant Temporal Scoring across all 389 ClinVar genes.</a:t>
            </a:r>
          </a:p>
          <a:p>
            <a:pPr>
              <a:spcBef>
                <a:spcPts val="800"/>
              </a:spcBef>
              <a:defRPr sz="1100">
                <a:solidFill>
                  <a:srgbClr val="1B263B"/>
                </a:solidFill>
              </a:defRPr>
            </a:pPr>
            <a:r>
              <a:t>→ Comparator Baselines: Version-locked execution against CADD v1.7, PhyloP, &amp; REVEL.</a:t>
            </a:r>
          </a:p>
          <a:p>
            <a:pPr>
              <a:spcBef>
                <a:spcPts val="800"/>
              </a:spcBef>
              <a:defRPr sz="1100">
                <a:solidFill>
                  <a:srgbClr val="1B263B"/>
                </a:solidFill>
              </a:defRPr>
            </a:pPr>
            <a:r>
              <a:t>→ Disjoint Gene-Grouped Calibration: Platt scaling on 1.22M variants.</a:t>
            </a:r>
          </a:p>
          <a:p>
            <a:pPr>
              <a:spcBef>
                <a:spcPts val="800"/>
              </a:spcBef>
              <a:defRPr sz="1100">
                <a:solidFill>
                  <a:srgbClr val="1B263B"/>
                </a:solidFill>
              </a:defRPr>
            </a:pPr>
            <a:r>
              <a:t>→ Reverse-Complement Robustness: Strand invariance auditing (Δfwd vs Δrc).</a:t>
            </a:r>
          </a:p>
          <a:p>
            <a:pPr>
              <a:spcBef>
                <a:spcPts val="800"/>
              </a:spcBef>
              <a:defRPr sz="1100">
                <a:solidFill>
                  <a:srgbClr val="1B263B"/>
                </a:solidFill>
              </a:defRPr>
            </a:pPr>
            <a:r>
              <a:t>→ Clinical VCF Batch Uploader: Async processing of large clinical genomic files.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A4"/>
                </a:solidFill>
              </a:defRPr>
            </a:pPr>
            <a:r>
              <a:t>DOMAIN &amp; PROBLEM STATEMENT</a:t>
            </a:r>
          </a:p>
          <a:p>
            <a:pPr>
              <a:spcBef>
                <a:spcPts val="400"/>
              </a:spcBef>
              <a:defRPr sz="2300" b="1">
                <a:solidFill>
                  <a:srgbClr val="1B263B"/>
                </a:solidFill>
              </a:defRPr>
            </a:pPr>
            <a:r>
              <a:t>The Clinical Dilemma: Resolving the VUS Gray Zone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EB5E41"/>
                </a:solidFill>
              </a:defRPr>
            </a:pPr>
            <a:r>
              <a:t>THE VUS CLINICAL CHALLENGE</a:t>
            </a:r>
          </a:p>
          <a:p>
            <a:pPr>
              <a:spcBef>
                <a:spcPts val="800"/>
              </a:spcBef>
              <a:defRPr sz="1100">
                <a:solidFill>
                  <a:srgbClr val="1B263B"/>
                </a:solidFill>
              </a:defRPr>
            </a:pPr>
            <a:r>
              <a:t>The 'Gray Zone': When sequencing reveals a Single Nucleotide Variant (SNV) with insufficient clinical evidence, it is classified as a Variant of Uncertain Significance (VUS).</a:t>
            </a:r>
          </a:p>
          <a:p>
            <a:pPr>
              <a:spcBef>
                <a:spcPts val="800"/>
              </a:spcBef>
              <a:defRPr sz="1100">
                <a:solidFill>
                  <a:srgbClr val="1B263B"/>
                </a:solidFill>
              </a:defRPr>
            </a:pPr>
            <a:r>
              <a:t>Clinician Paralysis: VUS results cannot guide surgery, preventative medication, or family screening. Patients remain in anxious limbo for years.</a:t>
            </a:r>
          </a:p>
          <a:p>
            <a:pPr>
              <a:spcBef>
                <a:spcPts val="800"/>
              </a:spcBef>
              <a:defRPr sz="1100">
                <a:solidFill>
                  <a:srgbClr val="1B263B"/>
                </a:solidFill>
              </a:defRPr>
            </a:pPr>
            <a:r>
              <a:t>Evidence Accumulation Delay: Traditional reclassification takes 2 to 5+ years of sporadic family tracking and labor-intensive wet-lab assays.</a:t>
            </a:r>
          </a:p>
          <a:p>
            <a:pPr>
              <a:spcBef>
                <a:spcPts val="800"/>
              </a:spcBef>
              <a:defRPr sz="1100">
                <a:solidFill>
                  <a:srgbClr val="1B263B"/>
                </a:solidFill>
              </a:defRPr>
            </a:pPr>
            <a:r>
              <a:t>ClinVar Scale: Over 1.4 million variants exist in ClinVar as VUS. Annually, only a modest fraction resolve to Benign or Pathogenic.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563EB"/>
                </a:solidFill>
              </a:defRPr>
            </a:pPr>
            <a:r>
              <a:t>WHY EXISTING BENCHMARKS ARE FLAWED</a:t>
            </a:r>
          </a:p>
          <a:p>
            <a:pPr>
              <a:spcBef>
                <a:spcPts val="800"/>
              </a:spcBef>
              <a:defRPr sz="1100">
                <a:solidFill>
                  <a:srgbClr val="1B263B"/>
                </a:solidFill>
              </a:defRPr>
            </a:pPr>
            <a:r>
              <a:t>Retrospective Bias (Hindsight):</a:t>
            </a:r>
            <a:br/>
            <a:r>
              <a:t>Most AI models are evaluated on variants already known to be definitively benign or pathogenic. This is like grading a weather forecaster only on sunny days.</a:t>
            </a:r>
          </a:p>
          <a:p>
            <a:pPr>
              <a:spcBef>
                <a:spcPts val="800"/>
              </a:spcBef>
              <a:defRPr sz="1100">
                <a:solidFill>
                  <a:srgbClr val="1B263B"/>
                </a:solidFill>
              </a:defRPr>
            </a:pPr>
            <a:r>
              <a:t>Data Leakage:</a:t>
            </a:r>
            <a:br/>
            <a:r>
              <a:t>Predictors often inadvertently train on features or labels derived from the same curated databases they are evaluated against.</a:t>
            </a:r>
          </a:p>
          <a:p>
            <a:pPr>
              <a:spcBef>
                <a:spcPts val="800"/>
              </a:spcBef>
              <a:defRPr sz="1100">
                <a:solidFill>
                  <a:srgbClr val="1B263B"/>
                </a:solidFill>
              </a:defRPr>
            </a:pPr>
            <a:r>
              <a:t>Our Solution — The Frozen 'Time Machine' Test:</a:t>
            </a:r>
            <a:br/>
            <a:r>
              <a:t>1. Freeze historical snapshot (t0 = Jan 2025) of genuine VUS variants.</a:t>
            </a:r>
            <a:br/>
            <a:r>
              <a:t>2. Lock AI scoring using strictly pre-t0 genomic knowledge.</a:t>
            </a:r>
            <a:br/>
            <a:r>
              <a:t>3. Reveal future outcomes (t1 = Aug 2026) ONLY to audit whether the model foresaw the reclassification direction.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A4"/>
                </a:solidFill>
              </a:defRPr>
            </a:pPr>
            <a:r>
              <a:t>SYSTEM IMPLEMENTATION (RUBRIC CRITERION 1)</a:t>
            </a:r>
          </a:p>
          <a:p>
            <a:pPr>
              <a:spcBef>
                <a:spcPts val="400"/>
              </a:spcBef>
              <a:defRPr sz="2300" b="1">
                <a:solidFill>
                  <a:srgbClr val="1B263B"/>
                </a:solidFill>
              </a:defRPr>
            </a:pPr>
            <a:r>
              <a:t>Full-Stack System Architecture: From Browser to H100 Cloud GPU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8308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EA5A4"/>
                </a:solidFill>
              </a:defRPr>
            </a:pPr>
            <a:r>
              <a:t>1. CLIENT INTERFACE</a:t>
            </a:r>
          </a:p>
          <a:p>
            <a:pPr>
              <a:spcBef>
                <a:spcPts val="200"/>
              </a:spcBef>
              <a:defRPr b="1" sz="1200">
                <a:solidFill>
                  <a:srgbClr val="1B263B"/>
                </a:solidFill>
              </a:defRPr>
            </a:pPr>
            <a:r>
              <a:t>Next.js 15 &amp; React 19</a:t>
            </a:r>
          </a:p>
          <a:p>
            <a:pPr>
              <a:spcBef>
                <a:spcPts val="500"/>
              </a:spcBef>
              <a:defRPr sz="1000">
                <a:solidFill>
                  <a:srgbClr val="1B263B"/>
                </a:solidFill>
              </a:defRPr>
            </a:pPr>
            <a:r>
              <a:t>• Interactive Genome Explorer</a:t>
            </a:r>
          </a:p>
          <a:p>
            <a:pPr>
              <a:spcBef>
                <a:spcPts val="500"/>
              </a:spcBef>
              <a:defRPr sz="1000">
                <a:solidFill>
                  <a:srgbClr val="1B263B"/>
                </a:solidFill>
              </a:defRPr>
            </a:pPr>
            <a:r>
              <a:t>• NCBI Gene search &amp; chromosome selector</a:t>
            </a:r>
          </a:p>
          <a:p>
            <a:pPr>
              <a:spcBef>
                <a:spcPts val="500"/>
              </a:spcBef>
              <a:defRPr sz="1000">
                <a:solidFill>
                  <a:srgbClr val="1B263B"/>
                </a:solidFill>
              </a:defRPr>
            </a:pPr>
            <a:r>
              <a:t>• 10,000 bp nucleotide slider</a:t>
            </a:r>
          </a:p>
          <a:p>
            <a:pPr>
              <a:spcBef>
                <a:spcPts val="500"/>
              </a:spcBef>
              <a:defRPr sz="1000">
                <a:solidFill>
                  <a:srgbClr val="1B263B"/>
                </a:solidFill>
              </a:defRPr>
            </a:pPr>
            <a:r>
              <a:t>• Single-click variant injection</a:t>
            </a:r>
          </a:p>
          <a:p>
            <a:pPr>
              <a:spcBef>
                <a:spcPts val="500"/>
              </a:spcBef>
              <a:defRPr sz="1000">
                <a:solidFill>
                  <a:srgbClr val="1B263B"/>
                </a:solidFill>
              </a:defRPr>
            </a:pPr>
            <a:r>
              <a:t>• ClinVar comparison modal</a:t>
            </a:r>
          </a:p>
          <a:p>
            <a:pPr>
              <a:spcBef>
                <a:spcPts val="500"/>
              </a:spcBef>
              <a:defRPr sz="1000">
                <a:solidFill>
                  <a:srgbClr val="1B263B"/>
                </a:solidFill>
              </a:defRPr>
            </a:pPr>
            <a:r>
              <a:t>• Tailwind CSS + shadcn/ui components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4688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78308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563EB"/>
                </a:solidFill>
              </a:defRPr>
            </a:pPr>
            <a:r>
              <a:t>2. GATEWAY PROXY</a:t>
            </a:r>
          </a:p>
          <a:p>
            <a:pPr>
              <a:spcBef>
                <a:spcPts val="200"/>
              </a:spcBef>
              <a:defRPr b="1" sz="1200">
                <a:solidFill>
                  <a:srgbClr val="1B263B"/>
                </a:solidFill>
              </a:defRPr>
            </a:pPr>
            <a:r>
              <a:t>Next.js App Router API</a:t>
            </a:r>
          </a:p>
          <a:p>
            <a:pPr>
              <a:spcBef>
                <a:spcPts val="500"/>
              </a:spcBef>
              <a:defRPr sz="1000">
                <a:solidFill>
                  <a:srgbClr val="1B263B"/>
                </a:solidFill>
              </a:defRPr>
            </a:pPr>
            <a:r>
              <a:t>• Proxies `/api/score/variant`</a:t>
            </a:r>
          </a:p>
          <a:p>
            <a:pPr>
              <a:spcBef>
                <a:spcPts val="500"/>
              </a:spcBef>
              <a:defRPr sz="1000">
                <a:solidFill>
                  <a:srgbClr val="1B263B"/>
                </a:solidFill>
              </a:defRPr>
            </a:pPr>
            <a:r>
              <a:t>• Solves cross-origin (CORS) limits</a:t>
            </a:r>
          </a:p>
          <a:p>
            <a:pPr>
              <a:spcBef>
                <a:spcPts val="500"/>
              </a:spcBef>
              <a:defRPr sz="1000">
                <a:solidFill>
                  <a:srgbClr val="1B263B"/>
                </a:solidFill>
              </a:defRPr>
            </a:pPr>
            <a:r>
              <a:t>• Translates internal request DTOs</a:t>
            </a:r>
          </a:p>
          <a:p>
            <a:pPr>
              <a:spcBef>
                <a:spcPts val="500"/>
              </a:spcBef>
              <a:defRPr sz="1000">
                <a:solidFill>
                  <a:srgbClr val="1B263B"/>
                </a:solidFill>
              </a:defRPr>
            </a:pPr>
            <a:r>
              <a:t>• Transforms delta score to UI confidence</a:t>
            </a:r>
          </a:p>
          <a:p>
            <a:pPr>
              <a:spcBef>
                <a:spcPts val="500"/>
              </a:spcBef>
              <a:defRPr sz="1000">
                <a:solidFill>
                  <a:srgbClr val="1B263B"/>
                </a:solidFill>
              </a:defRPr>
            </a:pPr>
            <a:r>
              <a:t>• Handles upstream error failsafes</a:t>
            </a:r>
          </a:p>
          <a:p>
            <a:pPr>
              <a:spcBef>
                <a:spcPts val="500"/>
              </a:spcBef>
              <a:defRPr sz="1000">
                <a:solidFill>
                  <a:srgbClr val="1B263B"/>
                </a:solidFill>
              </a:defRPr>
            </a:pPr>
            <a:r>
              <a:t>• Zero client-side API secrets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4688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78308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EB5E41"/>
                </a:solidFill>
              </a:defRPr>
            </a:pPr>
            <a:r>
              <a:t>3. MODEL SERVING</a:t>
            </a:r>
          </a:p>
          <a:p>
            <a:pPr>
              <a:spcBef>
                <a:spcPts val="200"/>
              </a:spcBef>
              <a:defRPr b="1" sz="1200">
                <a:solidFill>
                  <a:srgbClr val="1B263B"/>
                </a:solidFill>
              </a:defRPr>
            </a:pPr>
            <a:r>
              <a:t>Modal Serverless H100</a:t>
            </a:r>
          </a:p>
          <a:p>
            <a:pPr>
              <a:spcBef>
                <a:spcPts val="500"/>
              </a:spcBef>
              <a:defRPr sz="1000">
                <a:solidFill>
                  <a:srgbClr val="1B263B"/>
                </a:solidFill>
              </a:defRPr>
            </a:pPr>
            <a:r>
              <a:t>• NVIDIA H100 80GB SXM5 GPU</a:t>
            </a:r>
          </a:p>
          <a:p>
            <a:pPr>
              <a:spcBef>
                <a:spcPts val="500"/>
              </a:spcBef>
              <a:defRPr sz="1000">
                <a:solidFill>
                  <a:srgbClr val="1B263B"/>
                </a:solidFill>
              </a:defRPr>
            </a:pPr>
            <a:r>
              <a:t>• Evo 2 (7B parameter) foundation model</a:t>
            </a:r>
          </a:p>
          <a:p>
            <a:pPr>
              <a:spcBef>
                <a:spcPts val="500"/>
              </a:spcBef>
              <a:defRPr sz="1000">
                <a:solidFill>
                  <a:srgbClr val="1B263B"/>
                </a:solidFill>
              </a:defRPr>
            </a:pPr>
            <a:r>
              <a:t>• Warm container memory caching</a:t>
            </a:r>
          </a:p>
          <a:p>
            <a:pPr>
              <a:spcBef>
                <a:spcPts val="500"/>
              </a:spcBef>
              <a:defRPr sz="1000">
                <a:solidFill>
                  <a:srgbClr val="1B263B"/>
                </a:solidFill>
              </a:defRPr>
            </a:pPr>
            <a:r>
              <a:t>• PyTorch 2.4.0 + CUDA 12.4</a:t>
            </a:r>
          </a:p>
          <a:p>
            <a:pPr>
              <a:spcBef>
                <a:spcPts val="500"/>
              </a:spcBef>
              <a:defRPr sz="1000">
                <a:solidFill>
                  <a:srgbClr val="1B263B"/>
                </a:solidFill>
              </a:defRPr>
            </a:pPr>
            <a:r>
              <a:t>• Flash-Attention 2.6.3 + Vortex patch</a:t>
            </a:r>
          </a:p>
          <a:p>
            <a:pPr>
              <a:spcBef>
                <a:spcPts val="500"/>
              </a:spcBef>
              <a:defRPr sz="1000">
                <a:solidFill>
                  <a:srgbClr val="1B263B"/>
                </a:solidFill>
              </a:defRPr>
            </a:pPr>
            <a:r>
              <a:t>• Sub-3 second inference latency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46888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1783080"/>
            <a:ext cx="21945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64748B"/>
                </a:solidFill>
              </a:defRPr>
            </a:pPr>
            <a:r>
              <a:t>4. EXTERNAL APIS</a:t>
            </a:r>
          </a:p>
          <a:p>
            <a:pPr>
              <a:spcBef>
                <a:spcPts val="200"/>
              </a:spcBef>
              <a:defRPr b="1" sz="1200">
                <a:solidFill>
                  <a:srgbClr val="1B263B"/>
                </a:solidFill>
              </a:defRPr>
            </a:pPr>
            <a:r>
              <a:t>Biological Data Layer</a:t>
            </a:r>
          </a:p>
          <a:p>
            <a:pPr>
              <a:spcBef>
                <a:spcPts val="500"/>
              </a:spcBef>
              <a:defRPr sz="1000">
                <a:solidFill>
                  <a:srgbClr val="1B263B"/>
                </a:solidFill>
              </a:defRPr>
            </a:pPr>
            <a:r>
              <a:t>• UCSC Genome API: on-the-fly 8,192 bp sequence window extraction</a:t>
            </a:r>
          </a:p>
          <a:p>
            <a:pPr>
              <a:spcBef>
                <a:spcPts val="500"/>
              </a:spcBef>
              <a:defRPr sz="1000">
                <a:solidFill>
                  <a:srgbClr val="1B263B"/>
                </a:solidFill>
              </a:defRPr>
            </a:pPr>
            <a:r>
              <a:t>• NCBI Clinical Tables: symbol &amp; coordinate resolution</a:t>
            </a:r>
          </a:p>
          <a:p>
            <a:pPr>
              <a:spcBef>
                <a:spcPts val="500"/>
              </a:spcBef>
              <a:defRPr sz="1000">
                <a:solidFill>
                  <a:srgbClr val="1B263B"/>
                </a:solidFill>
              </a:defRPr>
            </a:pPr>
            <a:r>
              <a:t>• NCBI E-utilities: live ClinVar record retrieval</a:t>
            </a:r>
          </a:p>
          <a:p>
            <a:pPr>
              <a:spcBef>
                <a:spcPts val="500"/>
              </a:spcBef>
              <a:defRPr sz="1000">
                <a:solidFill>
                  <a:srgbClr val="1B263B"/>
                </a:solidFill>
              </a:defRPr>
            </a:pPr>
            <a:r>
              <a:t>• GRCh38 &amp; GRCh37 reference support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6080760"/>
            <a:ext cx="10698480" cy="411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6099048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Implementation Principle: Clean separation of concerns — lightweight client UI with zero heavy dependencies, decoupled from serverless H100 inference.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A4"/>
                </a:solidFill>
              </a:defRPr>
            </a:pPr>
            <a:r>
              <a:t>IMPLEMENTATION RUBRIC (EXECUTABLE EVIDENCE)</a:t>
            </a:r>
          </a:p>
          <a:p>
            <a:pPr>
              <a:spcBef>
                <a:spcPts val="400"/>
              </a:spcBef>
              <a:defRPr sz="2300" b="1">
                <a:solidFill>
                  <a:srgbClr val="1B263B"/>
                </a:solidFill>
              </a:defRPr>
            </a:pPr>
            <a:r>
              <a:t>Working Modules Representing &gt;50% of Approved Scope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  <a:gridCol w="3840480"/>
                <a:gridCol w="1554480"/>
              </a:tblGrid>
              <a:tr h="6553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Subsystem / Module</a:t>
                      </a:r>
                    </a:p>
                  </a:txBody>
                  <a:tcPr>
                    <a:solidFill>
                      <a:srgbClr val="0F24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Engineering Implementation</a:t>
                      </a:r>
                    </a:p>
                  </a:txBody>
                  <a:tcPr>
                    <a:solidFill>
                      <a:srgbClr val="0F24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Key Functions / Technologies</a:t>
                      </a:r>
                    </a:p>
                  </a:txBody>
                  <a:tcPr>
                    <a:solidFill>
                      <a:srgbClr val="0F24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Review III Status</a:t>
                      </a:r>
                    </a:p>
                  </a:txBody>
                  <a:tcPr>
                    <a:solidFill>
                      <a:srgbClr val="0F243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M7: Evo2 Scoring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Persistent Modal Service (`evo2_scorer_app.py`)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Evo2 7B model loading, H100 GPU execution, FP8 inference, FlashAttention-2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C55E"/>
                          </a:solidFill>
                        </a:defRPr>
                      </a:pPr>
                      <a:r>
                        <a:t>WORKING (LIVE)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M12-M13: Web Platform &amp; API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Next.js 15 Full-Stack (`apps/web`)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GeneViewer, VariantAnalysis, SequenceSlider, ClinVarModal, Proxy route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C55E"/>
                          </a:solidFill>
                        </a:defRPr>
                      </a:pPr>
                      <a:r>
                        <a:t>WORKING (LIVE)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M3-M4: Sequence Extraction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UCSC Context Fetcher (`sequence_window.py`)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8,192 bp centered windowing, 1-based to 0-based coordinate transformation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C55E"/>
                          </a:solidFill>
                        </a:defRPr>
                      </a:pPr>
                      <a:r>
                        <a:t>WORKING (LIVE)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M9-M10: Scoring &amp; Thresholding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Delta log-likelihood &amp; ROC Youden engine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ROC curve optimization, optimal cutoff (-0.000918), class variance scaling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C55E"/>
                          </a:solidFill>
                        </a:defRPr>
                      </a:pPr>
                      <a:r>
                        <a:t>WORKING (LIVE)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M14: Validation Suite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Comprehensive Pytest harness (`tests/`)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570 automated tests passing (unit, contract, integration, scientific)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22C55E"/>
                          </a:solidFill>
                        </a:defRPr>
                      </a:pPr>
                      <a:r>
                        <a:t>PASSING (100%)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Rubric Alignment Check: The system delivers working code for all primary execution pathways: sequence window extraction, neural network inference, classification thresholding, and user-facing interaction. Evidence is 100% executable and attributable to the student team.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A4"/>
                </a:solidFill>
              </a:defRPr>
            </a:pPr>
            <a:r>
              <a:t>TECHNICAL ACCURACY (RUBRIC CRITERION 2)</a:t>
            </a:r>
          </a:p>
          <a:p>
            <a:pPr>
              <a:spcBef>
                <a:spcPts val="400"/>
              </a:spcBef>
              <a:defRPr sz="2300" b="1">
                <a:solidFill>
                  <a:srgbClr val="1B263B"/>
                </a:solidFill>
              </a:defRPr>
            </a:pPr>
            <a:r>
              <a:t>The Core AI Model: Evo 2 Architecture and Sequence Likelihoods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EA5A4"/>
                </a:solidFill>
              </a:defRPr>
            </a:pPr>
            <a:r>
              <a:t>WHAT IS EVO 2?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Foundation Model for Biology: Developed by Arc Institute and Stanford University. Trained on trillions of nucleotide bases across bacteria, archaea, plants, and eukaryotes.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StripedHyena Architecture: Hybrid architecture combining multi-head attention with long-range implicit convolutional filters (Hyena operators). Enables up to 1 million base-pair context windows.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Zero-Shot Biological Generalization: Trained strictly as an autoregressive language model over raw DNA tokens (A, C, G, T). It was NEVER shown medical labels or ClinVar classifications during pre-training.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Why 7B on H100?: The 7-billion parameter checkpoint strikes the optimal balance between deep sequence representation and sub-3-second real-time inference latency on an NVIDIA H100 GPU.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EB5E41"/>
                </a:solidFill>
              </a:defRPr>
            </a:pPr>
            <a:r>
              <a:t>AUTOREGRESSIVE LIKELIHOOD COMPUTATION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Sequence Probability Formulation:</a:t>
            </a:r>
            <a:br/>
            <a:r>
              <a:t>  For any DNA window X = (x1, x2, ..., xL), the model evaluates the joint log-likelihood:</a:t>
            </a:r>
            <a:br/>
            <a:r>
              <a:t>log P(X) = Σ log P(xi | x&lt;i)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Reference vs Variant Scoring:</a:t>
            </a:r>
            <a:br/>
            <a:r>
              <a:t>  1. Pass unmodified 8,192 bp sequence -&gt; get s_ref</a:t>
            </a:r>
            <a:br/>
            <a:r>
              <a:t>2. Substitute the single target base -&gt; get s_var</a:t>
            </a:r>
            <a:br/>
            <a:r>
              <a:t>3. Compute Delta Score: Δ = s_var - s_ref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Biological Intuition:</a:t>
            </a:r>
            <a:br/>
            <a:r>
              <a:t>  Evolutionary conservation reflects biological fitness. If a mutated nucleotide drops the model's likelihood (negative Δ), it signals that the mutation creates an aberrant, evolutionarily disfavored sequence context.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Delta Score Meaning:</a:t>
            </a:r>
            <a:br/>
            <a:r>
              <a:t>  • Δ ≈ 0: Mutation is neutral / tolerated (Likely Benign)</a:t>
            </a:r>
            <a:br/>
            <a:r>
              <a:t>• Δ &lt;&lt; 0: Mutation disrupts biological sequence plausibility (Likely Pathogenic)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A4"/>
                </a:solidFill>
              </a:defRPr>
            </a:pPr>
            <a:r>
              <a:t>TECHNICAL ACCURACY (MATHEMATICAL RIGOR)</a:t>
            </a:r>
          </a:p>
          <a:p>
            <a:pPr>
              <a:spcBef>
                <a:spcPts val="400"/>
              </a:spcBef>
              <a:defRPr sz="2300" b="1">
                <a:solidFill>
                  <a:srgbClr val="1B263B"/>
                </a:solidFill>
              </a:defRPr>
            </a:pPr>
            <a:r>
              <a:t>Calibrated Decision Boundary and Confidence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2563EB"/>
                </a:solidFill>
              </a:defRPr>
            </a:pPr>
            <a:r>
              <a:t>OPTIMAL THRESHOLD DERIVATION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Empirical ROC Optimization:</a:t>
            </a:r>
            <a:br/>
            <a:r>
              <a:t>The classification threshold is not an arbitrary zero cutoff. It is empirically calibrated using Youden's J statistic on gold-standard functional assay data:</a:t>
            </a:r>
            <a:br/>
            <a:r>
              <a:t>J = Sensitivity + Specificity - 1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Calibrated Optimal Threshold (t):</a:t>
            </a:r>
            <a:br/>
            <a:r>
              <a:t>t = -0.0009178519</a:t>
            </a:r>
            <a:br/>
            <a:r>
              <a:t>Variants with Δ &lt; t are predicted as Likely Pathogenic;</a:t>
            </a:r>
            <a:br/>
            <a:r>
              <a:t>Variants with Δ &gt;= t are predicted as Likely Benign.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Why Negative Cutoff?:</a:t>
            </a:r>
            <a:br/>
            <a:r>
              <a:t>Because non-pathogenic missense mutations often exhibit slight background fluctuations in likelihood space. The negative threshold prevents false-positive over-calling.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Scientific Justification:</a:t>
            </a:r>
            <a:br/>
            <a:r>
              <a:t>This locks the decision boundary before testing, preventing hindsight threshold tuning or post-hoc result manipulation.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EB5E41"/>
                </a:solidFill>
              </a:defRPr>
            </a:pPr>
            <a:r>
              <a:t>CLASS-CONDITIONAL CONFIDENCE FORMULA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Distance-to-Threshold Metric:</a:t>
            </a:r>
            <a:br/>
            <a:r>
              <a:t>Confidence is calculated as the standardized distance from the decision boundary normalized by the standard deviation of that respective class.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Formula for Pathogenic Side (Δ &lt; t):</a:t>
            </a:r>
            <a:br/>
            <a:r>
              <a:t>Confidence = min( 1.0,  |Δ - t| / σ_LOF )</a:t>
            </a:r>
            <a:br/>
            <a:r>
              <a:t>where σ_LOF = 0.0015140239 (loss-of-function score spread)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Formula for Benign Side (Δ &gt;= t):</a:t>
            </a:r>
            <a:br/>
            <a:r>
              <a:t>Confidence = min( 1.0,  |Δ - t| / σ_FUNC )</a:t>
            </a:r>
            <a:br/>
            <a:r>
              <a:t>where σ_FUNC = 0.0009016589 (functional/benign score spread)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Clinical Interpretability:</a:t>
            </a:r>
            <a:br/>
            <a:r>
              <a:t>A variant right on the threshold yields Confidence ≈ 0.0 (near-uncertain), whereas variants deep into negative likelihood space scale to 1.0 (high certainty). This gives clinicians actionable risk calibration.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A4"/>
                </a:solidFill>
              </a:defRPr>
            </a:pPr>
            <a:r>
              <a:t>EXPERIMENTAL METHODOLOGY</a:t>
            </a:r>
          </a:p>
          <a:p>
            <a:pPr>
              <a:spcBef>
                <a:spcPts val="400"/>
              </a:spcBef>
              <a:defRPr sz="2300" b="1">
                <a:solidFill>
                  <a:srgbClr val="1B263B"/>
                </a:solidFill>
              </a:defRPr>
            </a:pPr>
            <a:r>
              <a:t>Benchmark Validation Setup: Gold-Standard Saturation Assay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EA5A4"/>
                </a:solidFill>
              </a:defRPr>
            </a:pPr>
            <a:r>
              <a:t>1. GOLD-STANDARD DATASET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Source: Findlay et al. (Nature 2018).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Assay: Saturation Genome Editing (SGE) of human BRCA1 gene across 13 exons.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Ground Truth: Direct experimental cell-viability scores.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Scope: 3,893 validated SNVs.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Labels: Loss of Function (LOF = Pathogenic) vs Functional / Intermediate (FUNC/INT = Benign).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EB5E41"/>
                </a:solidFill>
              </a:defRPr>
            </a:pPr>
            <a:r>
              <a:t>2. LIVE AUDIT EXECUTION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Cohort: 100 SNVs evaluated live via deployed Modal H100 GPU endpoint.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End-to-End Pipeline: Exact production API path used by frontend.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No Mocking / No Shortcuts: Real sequence fetching from UCSC + live 7B neural scoring.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Cost &amp; Quota Awareness: Controlled audit avoiding runaway cloud expenses.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Output Artifacts: Exact per-variant CSV logs, metrics JSON, and latency records saved.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563EB"/>
                </a:solidFill>
              </a:defRPr>
            </a:pPr>
            <a:r>
              <a:t>3. QUANTITATIVE METRICS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AUROC (Discrimination): Area under ROC curve from continuous delta scores.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Accuracy: Overall correct classification percentage.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Recall (Sensitivity): Proportion of actual pathogenic variants detected (critical for medicine).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Precision &amp; Specificity: Controlled false alarm rates.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• Operational Latency: Mean, median, and P95 execution times on H100.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A4"/>
                </a:solidFill>
              </a:defRPr>
            </a:pPr>
            <a:r>
              <a:t>RESULTS OBTAINED SO FAR (RUBRIC CRITERION 3)</a:t>
            </a:r>
          </a:p>
          <a:p>
            <a:pPr>
              <a:spcBef>
                <a:spcPts val="400"/>
              </a:spcBef>
              <a:defRPr sz="2300" b="1">
                <a:solidFill>
                  <a:srgbClr val="1B263B"/>
                </a:solidFill>
              </a:defRPr>
            </a:pPr>
            <a:r>
              <a:t>Empirical Performance Metrics from Deployed H100 Audit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6400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554480"/>
                <a:gridCol w="2468880"/>
              </a:tblGrid>
              <a:tr h="65314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Metric Category</a:t>
                      </a:r>
                    </a:p>
                  </a:txBody>
                  <a:tcPr>
                    <a:solidFill>
                      <a:srgbClr val="0F24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Measured Value</a:t>
                      </a:r>
                    </a:p>
                  </a:txBody>
                  <a:tcPr>
                    <a:solidFill>
                      <a:srgbClr val="0F243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Scientific &amp; Clinical Meaning</a:t>
                      </a:r>
                    </a:p>
                  </a:txBody>
                  <a:tcPr>
                    <a:solidFill>
                      <a:srgbClr val="0F243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API Reliability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B5E41"/>
                          </a:solidFill>
                        </a:defRPr>
                      </a:pPr>
                      <a:r>
                        <a:t>100.0% (100/100)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0 endpoint crashes or timeouts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AUROC (Discrimination)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B5E41"/>
                          </a:solidFill>
                        </a:defRPr>
                      </a:pPr>
                      <a:r>
                        <a:t>0.9309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Outstanding continuous separation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Classification 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B5E41"/>
                          </a:solidFill>
                        </a:defRPr>
                      </a:pPr>
                      <a:r>
                        <a:t>90.00% (90/100)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Overall correct predictions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Clinical Recall (Sensitivity)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B5E41"/>
                          </a:solidFill>
                        </a:defRPr>
                      </a:pPr>
                      <a:r>
                        <a:t>75.00% (9 / 12)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Detects 3 out of 4 harmful mutations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Specificity (Benign Accuracy)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B5E41"/>
                          </a:solidFill>
                        </a:defRPr>
                      </a:pPr>
                      <a:r>
                        <a:t>92.05% (81 / 88)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81 benign variants correctly spared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Average Endpoint Latency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EB5E41"/>
                          </a:solidFill>
                        </a:defRPr>
                      </a:pPr>
                      <a:r>
                        <a:t>2.7015 seconds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B263B"/>
                          </a:solidFill>
                        </a:defRPr>
                      </a:pPr>
                      <a:r>
                        <a:t>Fast enough for real-time web UI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406640" y="1645920"/>
            <a:ext cx="40233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0" y="1828800"/>
            <a:ext cx="3657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2563EB"/>
                </a:solidFill>
              </a:defRPr>
            </a:pPr>
            <a:r>
              <a:t>CONFUSION MATRIX ANALYSIS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True Negatives (TN = 81): 81 functional/benign variants correctly labeled. High specificity (92%).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True Positives (TP = 9): 9 loss-of-function variants correctly flagged as Likely Pathogenic.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False Positives (FP = 7): 7 benign variants flagged as pathogenic. In clinical screening, mild over-caution is standard.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False Negatives (FN = 3): Only 3 pathogenic variants missed, keeping false reassurance minimal.</a:t>
            </a:r>
          </a:p>
          <a:p>
            <a:pPr>
              <a:spcBef>
                <a:spcPts val="600"/>
              </a:spcBef>
              <a:defRPr sz="1050">
                <a:solidFill>
                  <a:srgbClr val="1B263B"/>
                </a:solidFill>
              </a:defRPr>
            </a:pPr>
            <a:r>
              <a:t>Latency Profile: • Median: 2.599s</a:t>
            </a:r>
            <a:br/>
            <a:r>
              <a:t>• P95 Latency: 2.977s</a:t>
            </a:r>
            <a:br/>
            <a:r>
              <a:t>• Total 100-call wall time: 270.16s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A4"/>
                </a:solidFill>
              </a:defRPr>
            </a:pPr>
            <a:r>
              <a:t>RESULTS OBTAINED SO FAR (VISUAL EVIDENCE)</a:t>
            </a:r>
          </a:p>
          <a:p>
            <a:pPr>
              <a:spcBef>
                <a:spcPts val="400"/>
              </a:spcBef>
              <a:defRPr sz="2300" b="1">
                <a:solidFill>
                  <a:srgbClr val="1B263B"/>
                </a:solidFill>
              </a:defRPr>
            </a:pPr>
            <a:r>
              <a:t>Performance Curves: AUROC = 0.9309 and Precision-Recall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737360"/>
            <a:ext cx="4754880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5778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ROC Curve: The steep initial rise demonstrates strong true-positive detection at low false-positive rates, yielding an empirical AUROC of 0.9309.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recision_recall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37360"/>
            <a:ext cx="4846320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5778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Precision-Recall Curve: Due to class imbalance (12 pathogenic vs 88 benign), PR provides a conservative audit of sensitivity vs false alarm rates.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A4"/>
                </a:solidFill>
              </a:defRPr>
            </a:pPr>
            <a:r>
              <a:t>RESULTS OBTAINED SO FAR (VISUAL EVIDENCE)</a:t>
            </a:r>
          </a:p>
          <a:p>
            <a:pPr>
              <a:spcBef>
                <a:spcPts val="400"/>
              </a:spcBef>
              <a:defRPr sz="2300" b="1">
                <a:solidFill>
                  <a:srgbClr val="1B263B"/>
                </a:solidFill>
              </a:defRPr>
            </a:pPr>
            <a:r>
              <a:t>Operational Performance: Confusion Matrix &amp; Latency Distributions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737360"/>
            <a:ext cx="4572000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57784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Confusion Matrix: Clear diagonal dominance (81 TN, 9 TP) verifying strong discriminatory capability on unseen functional SNVs.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atency_histo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37360"/>
            <a:ext cx="4846320" cy="37490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5778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Latency Distribution: Tightly clustered around 2.5–2.8 seconds. P95 latency is under 3.0s, confirming sub-second model compute + network transit.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A4"/>
                </a:solidFill>
              </a:defRPr>
            </a:pPr>
            <a:r>
              <a:t>PRESENTATION &amp; CLARITY (DEMO WORKFLOW)</a:t>
            </a:r>
          </a:p>
          <a:p>
            <a:pPr>
              <a:spcBef>
                <a:spcPts val="400"/>
              </a:spcBef>
              <a:defRPr sz="2300" b="1">
                <a:solidFill>
                  <a:srgbClr val="1B263B"/>
                </a:solidFill>
              </a:defRPr>
            </a:pPr>
            <a:r>
              <a:t>How to Demonstrate the System to the Review Panel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55648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EA5A4"/>
                </a:solidFill>
              </a:defRPr>
            </a:pPr>
            <a:r>
              <a:t>STEP 1: GENOME EXPLORATION</a:t>
            </a:r>
          </a:p>
          <a:p>
            <a:pPr>
              <a:spcBef>
                <a:spcPts val="200"/>
              </a:spcBef>
              <a:defRPr b="1" sz="1150">
                <a:solidFill>
                  <a:srgbClr val="1B263B"/>
                </a:solidFill>
              </a:defRPr>
            </a:pPr>
            <a:r>
              <a:t>Search Gene / Browse Chromosome</a:t>
            </a:r>
          </a:p>
          <a:p>
            <a:pPr>
              <a:spcBef>
                <a:spcPts val="300"/>
              </a:spcBef>
              <a:defRPr sz="950">
                <a:solidFill>
                  <a:srgbClr val="1B263B"/>
                </a:solidFill>
              </a:defRPr>
            </a:pPr>
            <a:r>
              <a:t>• Open browser at `http://localhost:3001`</a:t>
            </a:r>
          </a:p>
          <a:p>
            <a:pPr>
              <a:spcBef>
                <a:spcPts val="300"/>
              </a:spcBef>
              <a:defRPr sz="950">
                <a:solidFill>
                  <a:srgbClr val="1B263B"/>
                </a:solidFill>
              </a:defRPr>
            </a:pPr>
            <a:r>
              <a:t>• Select reference genome (e.g. `hg38` or `hg19`)</a:t>
            </a:r>
          </a:p>
          <a:p>
            <a:pPr>
              <a:spcBef>
                <a:spcPts val="300"/>
              </a:spcBef>
              <a:defRPr sz="950">
                <a:solidFill>
                  <a:srgbClr val="1B263B"/>
                </a:solidFill>
              </a:defRPr>
            </a:pPr>
            <a:r>
              <a:t>• Type cancer gene `BRCA1` into gene search</a:t>
            </a:r>
          </a:p>
          <a:p>
            <a:pPr>
              <a:spcBef>
                <a:spcPts val="300"/>
              </a:spcBef>
              <a:defRPr sz="950">
                <a:solidFill>
                  <a:srgbClr val="1B263B"/>
                </a:solidFill>
              </a:defRPr>
            </a:pPr>
            <a:r>
              <a:t>• Observe live NCBI metadata retrieval (coordinates, transcript, exons)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755648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EB5E41"/>
                </a:solidFill>
              </a:defRPr>
            </a:pPr>
            <a:r>
              <a:t>STEP 2: SEQUENCE VISUALIZATION</a:t>
            </a:r>
          </a:p>
          <a:p>
            <a:pPr>
              <a:spcBef>
                <a:spcPts val="200"/>
              </a:spcBef>
              <a:defRPr b="1" sz="1150">
                <a:solidFill>
                  <a:srgbClr val="1B263B"/>
                </a:solidFill>
              </a:defRPr>
            </a:pPr>
            <a:r>
              <a:t>Interactive 10,000 bp Slider</a:t>
            </a:r>
          </a:p>
          <a:p>
            <a:pPr>
              <a:spcBef>
                <a:spcPts val="300"/>
              </a:spcBef>
              <a:defRPr sz="950">
                <a:solidFill>
                  <a:srgbClr val="1B263B"/>
                </a:solidFill>
              </a:defRPr>
            </a:pPr>
            <a:r>
              <a:t>• Observe the color-coded nucleotide stream (A=green, T=red, G=yellow, C=blue)</a:t>
            </a:r>
          </a:p>
          <a:p>
            <a:pPr>
              <a:spcBef>
                <a:spcPts val="300"/>
              </a:spcBef>
              <a:defRPr sz="950">
                <a:solidFill>
                  <a:srgbClr val="1B263B"/>
                </a:solidFill>
              </a:defRPr>
            </a:pPr>
            <a:r>
              <a:t>• Scroll across genomic coordinates via the interactive slider</a:t>
            </a:r>
          </a:p>
          <a:p>
            <a:pPr>
              <a:spcBef>
                <a:spcPts val="300"/>
              </a:spcBef>
              <a:defRPr sz="950">
                <a:solidFill>
                  <a:srgbClr val="1B263B"/>
                </a:solidFill>
              </a:defRPr>
            </a:pPr>
            <a:r>
              <a:t>• Click on any individual nucleotide letter directly in the sequence stream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40"/>
            <a:ext cx="51206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87368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EA5A4"/>
                </a:solidFill>
              </a:defRPr>
            </a:pPr>
            <a:r>
              <a:t>STEP 3: LIVE VARIANT SCORING</a:t>
            </a:r>
          </a:p>
          <a:p>
            <a:pPr>
              <a:spcBef>
                <a:spcPts val="200"/>
              </a:spcBef>
              <a:defRPr b="1" sz="1150">
                <a:solidFill>
                  <a:srgbClr val="1B263B"/>
                </a:solidFill>
              </a:defRPr>
            </a:pPr>
            <a:r>
              <a:t>Real-Time Cloud H100 Inference</a:t>
            </a:r>
          </a:p>
          <a:p>
            <a:pPr>
              <a:spcBef>
                <a:spcPts val="300"/>
              </a:spcBef>
              <a:defRPr sz="950">
                <a:solidFill>
                  <a:srgbClr val="1B263B"/>
                </a:solidFill>
              </a:defRPr>
            </a:pPr>
            <a:r>
              <a:t>• Selected coordinate automatically pre-fills Variant Analysis card</a:t>
            </a:r>
          </a:p>
          <a:p>
            <a:pPr>
              <a:spcBef>
                <a:spcPts val="300"/>
              </a:spcBef>
              <a:defRPr sz="950">
                <a:solidFill>
                  <a:srgbClr val="1B263B"/>
                </a:solidFill>
              </a:defRPr>
            </a:pPr>
            <a:r>
              <a:t>• Pick alternative mutation allele (e.g., A &gt; T)</a:t>
            </a:r>
          </a:p>
          <a:p>
            <a:pPr>
              <a:spcBef>
                <a:spcPts val="300"/>
              </a:spcBef>
              <a:defRPr sz="950">
                <a:solidFill>
                  <a:srgbClr val="1B263B"/>
                </a:solidFill>
              </a:defRPr>
            </a:pPr>
            <a:r>
              <a:t>• Click 'Analyze Variant' -&gt; Live spinner (~2.7s)</a:t>
            </a:r>
          </a:p>
          <a:p>
            <a:pPr>
              <a:spcBef>
                <a:spcPts val="300"/>
              </a:spcBef>
              <a:defRPr sz="950">
                <a:solidFill>
                  <a:srgbClr val="1B263B"/>
                </a:solidFill>
              </a:defRPr>
            </a:pPr>
            <a:r>
              <a:t>• Receive live Evo 2 delta score, prediction, and confidence level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77640"/>
            <a:ext cx="51206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4087368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EB5E41"/>
                </a:solidFill>
              </a:defRPr>
            </a:pPr>
            <a:r>
              <a:t>STEP 4: CLINICAL CROSS-CHECK</a:t>
            </a:r>
          </a:p>
          <a:p>
            <a:pPr>
              <a:spcBef>
                <a:spcPts val="200"/>
              </a:spcBef>
              <a:defRPr b="1" sz="1150">
                <a:solidFill>
                  <a:srgbClr val="1B263B"/>
                </a:solidFill>
              </a:defRPr>
            </a:pPr>
            <a:r>
              <a:t>Known ClinVar Verification</a:t>
            </a:r>
          </a:p>
          <a:p>
            <a:pPr>
              <a:spcBef>
                <a:spcPts val="300"/>
              </a:spcBef>
              <a:defRPr sz="950">
                <a:solidFill>
                  <a:srgbClr val="1B263B"/>
                </a:solidFill>
              </a:defRPr>
            </a:pPr>
            <a:r>
              <a:t>• Scroll down to 'Known Variants' table loaded live from ClinVar API</a:t>
            </a:r>
          </a:p>
          <a:p>
            <a:pPr>
              <a:spcBef>
                <a:spcPts val="300"/>
              </a:spcBef>
              <a:defRPr sz="950">
                <a:solidFill>
                  <a:srgbClr val="1B263B"/>
                </a:solidFill>
              </a:defRPr>
            </a:pPr>
            <a:r>
              <a:t>• Click on a matching variant row</a:t>
            </a:r>
          </a:p>
          <a:p>
            <a:pPr>
              <a:spcBef>
                <a:spcPts val="300"/>
              </a:spcBef>
              <a:defRPr sz="950">
                <a:solidFill>
                  <a:srgbClr val="1B263B"/>
                </a:solidFill>
              </a:defRPr>
            </a:pPr>
            <a:r>
              <a:t>• Open 'Variant Comparison Modal' to view AI Prediction vs ClinVar expert curated clinical record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A4"/>
                </a:solidFill>
              </a:defRPr>
            </a:pPr>
            <a:r>
              <a:t>TECHNICAL ACCURACY &amp; ENGINEERING RIGOR</a:t>
            </a:r>
          </a:p>
          <a:p>
            <a:pPr>
              <a:spcBef>
                <a:spcPts val="400"/>
              </a:spcBef>
              <a:defRPr sz="2300" b="1">
                <a:solidFill>
                  <a:srgbClr val="1B263B"/>
                </a:solidFill>
              </a:defRPr>
            </a:pPr>
            <a:r>
              <a:t>Software Quality Assurance, CI Gates, and Failsafe Policies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EA5A4"/>
                </a:solidFill>
              </a:defRPr>
            </a:pPr>
            <a:r>
              <a:t>570 PASSING TESTS</a:t>
            </a:r>
          </a:p>
          <a:p>
            <a:pPr>
              <a:spcBef>
                <a:spcPts val="800"/>
              </a:spcBef>
              <a:defRPr sz="1000">
                <a:solidFill>
                  <a:srgbClr val="1B263B"/>
                </a:solidFill>
              </a:defRPr>
            </a:pPr>
            <a:r>
              <a:t>• Unit Tests: Mathematical delta computation, strand reversals, nucleotide tokenization.</a:t>
            </a:r>
          </a:p>
          <a:p>
            <a:pPr>
              <a:spcBef>
                <a:spcPts val="800"/>
              </a:spcBef>
              <a:defRPr sz="1000">
                <a:solidFill>
                  <a:srgbClr val="1B263B"/>
                </a:solidFill>
              </a:defRPr>
            </a:pPr>
            <a:r>
              <a:t>• Contract Tests: Pydantic DTO schemas, API request/response serialization.</a:t>
            </a:r>
          </a:p>
          <a:p>
            <a:pPr>
              <a:spcBef>
                <a:spcPts val="800"/>
              </a:spcBef>
              <a:defRPr sz="1000">
                <a:solidFill>
                  <a:srgbClr val="1B263B"/>
                </a:solidFill>
              </a:defRPr>
            </a:pPr>
            <a:r>
              <a:t>• Integration Tests: Mock serverless responses, error status handling.</a:t>
            </a:r>
          </a:p>
          <a:p>
            <a:pPr>
              <a:spcBef>
                <a:spcPts val="800"/>
              </a:spcBef>
              <a:defRPr sz="1000">
                <a:solidFill>
                  <a:srgbClr val="1B263B"/>
                </a:solidFill>
              </a:defRPr>
            </a:pPr>
            <a:r>
              <a:t>• Scientific Tests: Zero-peeking assertions, frozen protocol integrity validation.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563EB"/>
                </a:solidFill>
              </a:defRPr>
            </a:pPr>
            <a:r>
              <a:t>STRICT CODE QUALITY</a:t>
            </a:r>
          </a:p>
          <a:p>
            <a:pPr>
              <a:spcBef>
                <a:spcPts val="800"/>
              </a:spcBef>
              <a:defRPr sz="1000">
                <a:solidFill>
                  <a:srgbClr val="1B263B"/>
                </a:solidFill>
              </a:defRPr>
            </a:pPr>
            <a:r>
              <a:t>• Strict Mypy: Zero type errors across all 35 Python source files (`mypy --strict`).</a:t>
            </a:r>
          </a:p>
          <a:p>
            <a:pPr>
              <a:spcBef>
                <a:spcPts val="800"/>
              </a:spcBef>
              <a:defRPr sz="1000">
                <a:solidFill>
                  <a:srgbClr val="1B263B"/>
                </a:solidFill>
              </a:defRPr>
            </a:pPr>
            <a:r>
              <a:t>• Ruff Linter: Clean formatting and linting adhering to Python 3.12 modern syntax.</a:t>
            </a:r>
          </a:p>
          <a:p>
            <a:pPr>
              <a:spcBef>
                <a:spcPts val="800"/>
              </a:spcBef>
              <a:defRPr sz="1000">
                <a:solidFill>
                  <a:srgbClr val="1B263B"/>
                </a:solidFill>
              </a:defRPr>
            </a:pPr>
            <a:r>
              <a:t>• Secrets Protection: Automated `check_secrets.sh` git pre-commit scan preventing credential leakage.</a:t>
            </a:r>
          </a:p>
          <a:p>
            <a:pPr>
              <a:spcBef>
                <a:spcPts val="800"/>
              </a:spcBef>
              <a:defRPr sz="1000">
                <a:solidFill>
                  <a:srgbClr val="1B263B"/>
                </a:solidFill>
              </a:defRPr>
            </a:pPr>
            <a:r>
              <a:t>• Frozen Protocol: Hashes locked under `research/protocol/protocol.yaml` (v1.0.1).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EB5E41"/>
                </a:solidFill>
              </a:defRPr>
            </a:pPr>
            <a:r>
              <a:t>COST &amp; FAILSAFE CONTROLS</a:t>
            </a:r>
          </a:p>
          <a:p>
            <a:pPr>
              <a:spcBef>
                <a:spcPts val="800"/>
              </a:spcBef>
              <a:defRPr sz="1000">
                <a:solidFill>
                  <a:srgbClr val="1B263B"/>
                </a:solidFill>
              </a:defRPr>
            </a:pPr>
            <a:r>
              <a:t>• Free by Default: Local development runs on CPU with `FakeScorer` without incurring cloud cost.</a:t>
            </a:r>
          </a:p>
          <a:p>
            <a:pPr>
              <a:spcBef>
                <a:spcPts val="800"/>
              </a:spcBef>
              <a:defRPr sz="1000">
                <a:solidFill>
                  <a:srgbClr val="1B263B"/>
                </a:solidFill>
              </a:defRPr>
            </a:pPr>
            <a:r>
              <a:t>• Gated Paid Compute: Modal GPU calls strictly require explicit acknowledgement variable (`EVOVARIANT_TR_PAID_COMPUTE_ACK`).</a:t>
            </a:r>
          </a:p>
          <a:p>
            <a:pPr>
              <a:spcBef>
                <a:spcPts val="800"/>
              </a:spcBef>
              <a:defRPr sz="1000">
                <a:solidFill>
                  <a:srgbClr val="1B263B"/>
                </a:solidFill>
              </a:defRPr>
            </a:pPr>
            <a:r>
              <a:t>• Safe Failures: If the model is offline, explicit error payloads are returned — never synthetic or fabricated scores.</a:t>
            </a:r>
          </a:p>
          <a:p>
            <a:pPr>
              <a:spcBef>
                <a:spcPts val="800"/>
              </a:spcBef>
              <a:defRPr sz="1000">
                <a:solidFill>
                  <a:srgbClr val="1B263B"/>
                </a:solidFill>
              </a:defRPr>
            </a:pPr>
            <a:r>
              <a:t>• Auditable Manifests: Every raw file and dataset is checksummed via SHA-256.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A4"/>
                </a:solidFill>
              </a:defRPr>
            </a:pPr>
            <a:r>
              <a:t>SCOPE ASSESSMENT</a:t>
            </a:r>
          </a:p>
          <a:p>
            <a:pPr>
              <a:spcBef>
                <a:spcPts val="400"/>
              </a:spcBef>
              <a:defRPr sz="2300" b="1">
                <a:solidFill>
                  <a:srgbClr val="1B263B"/>
                </a:solidFill>
              </a:defRPr>
            </a:pPr>
            <a:r>
              <a:t>What We Have Done vs What Remains to be Done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22C55E"/>
                </a:solidFill>
              </a:defRPr>
            </a:pPr>
            <a:r>
              <a:t>WHAT WE HAVE COMPLETED (&gt; 50% SCOPE)</a:t>
            </a:r>
          </a:p>
          <a:p>
            <a:pPr>
              <a:spcBef>
                <a:spcPts val="800"/>
              </a:spcBef>
              <a:defRPr sz="1050">
                <a:solidFill>
                  <a:srgbClr val="1B263B"/>
                </a:solidFill>
              </a:defRPr>
            </a:pPr>
            <a:r>
              <a:t>✓ Interactive Web Workbench: Live Next.js 15 app with genome browsing, sequence sliding, and ClinVar cross-referencing.</a:t>
            </a:r>
          </a:p>
          <a:p>
            <a:pPr>
              <a:spcBef>
                <a:spcPts val="800"/>
              </a:spcBef>
              <a:defRPr sz="1050">
                <a:solidFill>
                  <a:srgbClr val="1B263B"/>
                </a:solidFill>
              </a:defRPr>
            </a:pPr>
            <a:r>
              <a:t>✓ Serverless GPU Serving: Modal H100 backend running Evo 2 7B in FP8 with custom Vortex Flash-Attention patching.</a:t>
            </a:r>
          </a:p>
          <a:p>
            <a:pPr>
              <a:spcBef>
                <a:spcPts val="800"/>
              </a:spcBef>
              <a:defRPr sz="1050">
                <a:solidFill>
                  <a:srgbClr val="1B263B"/>
                </a:solidFill>
              </a:defRPr>
            </a:pPr>
            <a:r>
              <a:t>✓ Scoring &amp; Thresholding Pipeline: Calibrated decision boundary (t = -0.000918) with class-conditional confidence scaling.</a:t>
            </a:r>
          </a:p>
          <a:p>
            <a:pPr>
              <a:spcBef>
                <a:spcPts val="800"/>
              </a:spcBef>
              <a:defRPr sz="1050">
                <a:solidFill>
                  <a:srgbClr val="1B263B"/>
                </a:solidFill>
              </a:defRPr>
            </a:pPr>
            <a:r>
              <a:t>✓ Live Empirical Audit: 100/100 successful inference calls on gold-standard BRCA1 SGE dataset with 0.9309 AUROC.</a:t>
            </a:r>
          </a:p>
          <a:p>
            <a:pPr>
              <a:spcBef>
                <a:spcPts val="800"/>
              </a:spcBef>
              <a:defRPr sz="1050">
                <a:solidFill>
                  <a:srgbClr val="1B263B"/>
                </a:solidFill>
              </a:defRPr>
            </a:pPr>
            <a:r>
              <a:t>✓ Protocol &amp; Quality Guardrails: 570 passing tests, strict typing, secret scanners, and frozen data manifests.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8463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EB5E41"/>
                </a:solidFill>
              </a:defRPr>
            </a:pPr>
            <a:r>
              <a:t>WHAT REMAINS FOR FINAL REVIEW (REVIEW IV)</a:t>
            </a:r>
          </a:p>
          <a:p>
            <a:pPr>
              <a:spcBef>
                <a:spcPts val="800"/>
              </a:spcBef>
              <a:defRPr sz="1050">
                <a:solidFill>
                  <a:srgbClr val="1B263B"/>
                </a:solidFill>
              </a:defRPr>
            </a:pPr>
            <a:r>
              <a:t>→ Full Temporal Cohort Scoring: Expand scoring across all 1,024 ClinVar temporal VUS variants across 389 genes.</a:t>
            </a:r>
          </a:p>
          <a:p>
            <a:pPr>
              <a:spcBef>
                <a:spcPts val="800"/>
              </a:spcBef>
              <a:defRPr sz="1050">
                <a:solidFill>
                  <a:srgbClr val="1B263B"/>
                </a:solidFill>
              </a:defRPr>
            </a:pPr>
            <a:r>
              <a:t>→ Comparative Baseline Benchmarking: Run version-locked comparator tools (CADD v1.7, PhyloP, REVEL) under identical conditions.</a:t>
            </a:r>
          </a:p>
          <a:p>
            <a:pPr>
              <a:spcBef>
                <a:spcPts val="800"/>
              </a:spcBef>
              <a:defRPr sz="1050">
                <a:solidFill>
                  <a:srgbClr val="1B263B"/>
                </a:solidFill>
              </a:defRPr>
            </a:pPr>
            <a:r>
              <a:t>→ Disjoint Gene-Grouped Calibration: Fit Platt scaling on the separate 1.22M variant calibration cohort.</a:t>
            </a:r>
          </a:p>
          <a:p>
            <a:pPr>
              <a:spcBef>
                <a:spcPts val="800"/>
              </a:spcBef>
              <a:defRPr sz="1050">
                <a:solidFill>
                  <a:srgbClr val="1B263B"/>
                </a:solidFill>
              </a:defRPr>
            </a:pPr>
            <a:r>
              <a:t>→ Reverse-Complement (RC) Invariance Audit: Quantify forward vs reverse-complement score agreement (Δfwd vs Δrc).</a:t>
            </a:r>
          </a:p>
          <a:p>
            <a:pPr>
              <a:spcBef>
                <a:spcPts val="800"/>
              </a:spcBef>
              <a:defRPr sz="1050">
                <a:solidFill>
                  <a:srgbClr val="1B263B"/>
                </a:solidFill>
              </a:defRPr>
            </a:pPr>
            <a:r>
              <a:t>→ Clinical VCF File Uploader: Provide asynchronous batch processing UI for clinical whole-exome sequencing files.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EA5A4"/>
                </a:solidFill>
              </a:defRPr>
            </a:pPr>
            <a:r>
              <a:t>PRESENTATION &amp; CLARITY (PANEL DEFENSE)</a:t>
            </a:r>
          </a:p>
          <a:p>
            <a:pPr>
              <a:spcBef>
                <a:spcPts val="400"/>
              </a:spcBef>
              <a:defRPr sz="2300" b="1">
                <a:solidFill>
                  <a:srgbClr val="1B263B"/>
                </a:solidFill>
              </a:defRPr>
            </a:pPr>
            <a:r>
              <a:t>Anticipated Questions from the Review Panel &amp; Model Answers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55648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EB5E41"/>
                </a:solidFill>
              </a:defRPr>
            </a:pPr>
            <a:r>
              <a:t>Q1: Why use Evo 2 rather than training a custom classifier?</a:t>
            </a:r>
          </a:p>
          <a:p>
            <a:pPr>
              <a:spcBef>
                <a:spcPts val="400"/>
              </a:spcBef>
              <a:defRPr sz="950">
                <a:solidFill>
                  <a:srgbClr val="1B263B"/>
                </a:solidFill>
              </a:defRPr>
            </a:pPr>
            <a:r>
              <a:t>Answer: Training on existing ClinVar labels introduces circular data leakage. Evo 2 provides zero-shot sequence likelihoods derived purely from universal evolutionary biology, making it an uncorrupted predictor of future clinical resolution.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1206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755648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EB5E41"/>
                </a:solidFill>
              </a:defRPr>
            </a:pPr>
            <a:r>
              <a:t>Q2: Why is the classification threshold negative (-0.000918) instead of zero?</a:t>
            </a:r>
          </a:p>
          <a:p>
            <a:pPr>
              <a:spcBef>
                <a:spcPts val="400"/>
              </a:spcBef>
              <a:defRPr sz="950">
                <a:solidFill>
                  <a:srgbClr val="1B263B"/>
                </a:solidFill>
              </a:defRPr>
            </a:pPr>
            <a:r>
              <a:t>Answer: Minor sequence substitutions experience small neutral fluctuations in likelihood space. Using Youden's J statistic on experimental functional data separates genuine loss-of-function from neutral missense noise.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77640"/>
            <a:ext cx="51206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87368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EB5E41"/>
                </a:solidFill>
              </a:defRPr>
            </a:pPr>
            <a:r>
              <a:t>Q3: How is data leakage prevented between training and evaluation?</a:t>
            </a:r>
          </a:p>
          <a:p>
            <a:pPr>
              <a:spcBef>
                <a:spcPts val="400"/>
              </a:spcBef>
              <a:defRPr sz="950">
                <a:solidFill>
                  <a:srgbClr val="1B263B"/>
                </a:solidFill>
              </a:defRPr>
            </a:pPr>
            <a:r>
              <a:t>Answer: 1) The benchmark is temporal (VUS frozen at t0 Jan 2025; outcomes revealed only at t1 Aug 2026). 2) Threshold calibration is fitted on disjoint gene sets, ensuring no variant overlap between calibration and test cohorts.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977640"/>
            <a:ext cx="512064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4087368"/>
            <a:ext cx="4754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EB5E41"/>
                </a:solidFill>
              </a:defRPr>
            </a:pPr>
            <a:r>
              <a:t>Q4: Why does recall (75%) take priority over precision (56%) in this system?</a:t>
            </a:r>
          </a:p>
          <a:p>
            <a:pPr>
              <a:spcBef>
                <a:spcPts val="400"/>
              </a:spcBef>
              <a:defRPr sz="950">
                <a:solidFill>
                  <a:srgbClr val="1B263B"/>
                </a:solidFill>
              </a:defRPr>
            </a:pPr>
            <a:r>
              <a:t>Answer: In medical screening, missing a life-threatening cancer variant (False Negative) carries catastrophic clinical consequences, whereas a false alarm (False Positive) is safely filtered out during standard confirmatory assays.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3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1887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B5E41"/>
                </a:solidFill>
              </a:defRPr>
            </a:pPr>
            <a:r>
              <a:t>REVIEW III SUMMARY</a:t>
            </a:r>
          </a:p>
          <a:p>
            <a:pPr>
              <a:spcBef>
                <a:spcPts val="600"/>
              </a:spcBef>
              <a:defRPr sz="2600" b="1">
                <a:solidFill>
                  <a:srgbClr val="FFFFFF"/>
                </a:solidFill>
              </a:defRPr>
            </a:pPr>
            <a:r>
              <a:t>EvoVariant: Validated Zero-Shot Genomic Inference Platform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834640"/>
            <a:ext cx="33832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EA5A4"/>
                </a:solidFill>
              </a:defRPr>
            </a:pPr>
            <a:r>
              <a:t>WORKING IMPLEMENTATION</a:t>
            </a:r>
          </a:p>
          <a:p>
            <a:pPr>
              <a:spcBef>
                <a:spcPts val="800"/>
              </a:spcBef>
              <a:defRPr sz="1100">
                <a:solidFill>
                  <a:srgbClr val="1B263B"/>
                </a:solidFill>
              </a:defRPr>
            </a:pPr>
            <a:r>
              <a:t>Demonstrated a full-stack, cloud-deployed platform connecting interactive Next.js web client to serverless H100 GPU running Evo 2 7B in real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834640"/>
            <a:ext cx="33832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301752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EB5E41"/>
                </a:solidFill>
              </a:defRPr>
            </a:pPr>
            <a:r>
              <a:t>RIGOROUS INTERIM RESULTS</a:t>
            </a:r>
          </a:p>
          <a:p>
            <a:pPr>
              <a:spcBef>
                <a:spcPts val="800"/>
              </a:spcBef>
              <a:defRPr sz="1100">
                <a:solidFill>
                  <a:srgbClr val="1B263B"/>
                </a:solidFill>
              </a:defRPr>
            </a:pPr>
            <a:r>
              <a:t>Achieved 90% accuracy, 0.9309 AUROC, and 75% recall on gold-standard functional benchmark with sub-3s inference latency and 100% API stability.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2834640"/>
            <a:ext cx="3383280" cy="2926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3017520"/>
            <a:ext cx="30175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563EB"/>
                </a:solidFill>
              </a:defRPr>
            </a:pPr>
            <a:r>
              <a:t>CLEAR ROADMAP TO FINAL</a:t>
            </a:r>
          </a:p>
          <a:p>
            <a:pPr>
              <a:spcBef>
                <a:spcPts val="800"/>
              </a:spcBef>
              <a:defRPr sz="1100">
                <a:solidFill>
                  <a:srgbClr val="1B263B"/>
                </a:solidFill>
              </a:defRPr>
            </a:pPr>
            <a:r>
              <a:t>Defined executable steps for final review: scaling across the full 1,024-variant temporal cohort, comparator benchmarking, and gene-grouped calibration.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Thank You. Questions &amp; Discussion Welcome.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