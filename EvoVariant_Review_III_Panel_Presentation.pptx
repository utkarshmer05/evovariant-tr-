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VELLORE INSTITUTE OF TECHNOLOGY — CHENNAI</a:t>
            </a:r>
          </a:p>
          <a:p>
            <a:pPr algn="ctr"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School of Computer Science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B.Tech BCSE497J - Project - I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EB5E41"/>
                </a:solidFill>
              </a:defRPr>
            </a:pPr>
            <a:r>
              <a:t>REVIEW III – PANEL REVIEW</a:t>
            </a:r>
          </a:p>
          <a:p>
            <a:pPr algn="ctr">
              <a:spcBef>
                <a:spcPts val="800"/>
              </a:spcBef>
              <a:defRPr sz="1600">
                <a:solidFill>
                  <a:srgbClr val="1B263B"/>
                </a:solidFill>
              </a:defRPr>
            </a:pPr>
            <a:r>
              <a:t>EvoVariant: Zero-Shot DNA Foundation Model Platform for Human Genetic Variant Effect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4297680"/>
            <a:ext cx="7040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438912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A5A4"/>
                </a:solidFill>
              </a:defRPr>
            </a:pPr>
            <a:r>
              <a:t>PROJECT TEAM MEMBERS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B263B"/>
                </a:solidFill>
              </a:defRPr>
            </a:pPr>
            <a:r>
              <a:t>➢  Utkarsh Khajuria — 23BCE5053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B263B"/>
                </a:solidFill>
              </a:defRPr>
            </a:pPr>
            <a:r>
              <a:t>➢  Atharv Shiva Hiremath — 23BCE1460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B263B"/>
                </a:solidFill>
              </a:defRPr>
            </a:pPr>
            <a:r>
              <a:t>➢  Aryan Mishra — 23BCE1860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DOMAIN BACKGROUND &amp; PROBLEM STATEMENT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The Clinical Dilemma: Resolving the Genetic 'Gray Zone' (VUS)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WHAT IS A VARIANT OF UNCERTAIN SIGNIFICANCE?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The 'Spelling Change' in DNA: Human DNA has 3 billion letters (A, C, G, T). A Single Nucleotide Variant (SNV) changes just one letter. Some are harmless; others cause cancer or hereditary diseases.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The Clinical Deadlock (VUS): When genetic tests find a mutation without enough clinical proof, it is classified as VUS (Variant of Uncertain Significance). Doctors cannot act, prescribe preventative medicine, or advise families.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The Multi-Year Waiting Bottleneck: Resolving a VUS typically takes 2 to 5+ years of slow familial tracking and expensive lab cell cultures. Over 1.4 million variants in ClinVar remain stuck in this gray zone.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Our Core Research Objective: Can a general-purpose AI model that understands DNA predict early whether an uncertain variant will eventually resolve as harmless (benign) or disease-causing (pathogenic)?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HOW CLINICAL LABS SORT VARIANTS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Box 1 — Benign / Likely Benign (B/LB):</a:t>
            </a:r>
            <a:br/>
            <a:r>
              <a:t>  Harmless. Normal biological variation. No clinical action needed.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Box 2 — Uncertain Significance (VUS) [Our Focus]:</a:t>
            </a:r>
            <a:br/>
            <a:r>
              <a:t>  The clinical gray zone. The evidence is inconclusive. The case stays open indefinitely until new scientific evidence closes it.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Box 3 — Pathogenic / Likely Pathogenic (P/LP):</a:t>
            </a:r>
            <a:br/>
            <a:r>
              <a:t>  Directly linked to disease or cancer risk. Clinically actionable for preventative care or targeted therapies.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EvoVariant Contribution:</a:t>
            </a:r>
            <a:br/>
            <a:r>
              <a:t>  We provide an uncorrupted, zero-shot AI signal that scores the future trajectory of Box 2 variants before clinical resolution occurs.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Richards et al. (2015) 'Standards and guidelines for the interpretation of sequence variants' (ACMG/AMP), Genetics in Medicine 17(5):405-424; Landrum et al. (2020) ClinVar Database, Nucleic Acids 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LITERATURE REVIEW &amp; RESEARCH GAP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Why Traditional Benchmarks Suffer from Hindsight Bias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64748B"/>
                </a:solidFill>
              </a:defRPr>
            </a:pPr>
            <a:r>
              <a:t>RETROSPECTIVE TESTING (EXISTING LITERATURE)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• The 'Hindsight' Flaw:</a:t>
            </a:r>
            <a:br/>
            <a:r>
              <a:t>  Most published tools test only on variants already proven to be benign or pathogenic. This is like grading a weather forecaster only on days that were already clear or thunderstorming.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• Severe Data Leakage:</a:t>
            </a:r>
            <a:br/>
            <a:r>
              <a:t>  Predictor models often use features (like allele frequency, conservation, or published literature) that were derived from the exact same databases they are tested on.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• Inability to Test Open Cases:</a:t>
            </a:r>
            <a:br/>
            <a:r>
              <a:t>  Evaluating on already-resolved cases fails to reflect the real-world clinical challenge: making a forward-looking prediction on an open, uncertain variant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5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FORWARD-LOOKING 'TIME-MACHINE' TEST (OUR DESIGN)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Step 1: Freeze Historical Snapshot (t0):</a:t>
            </a:r>
            <a:br/>
            <a:r>
              <a:t>  We take ClinVar archive from January 2, 2025, containing variants with confirmed VUS status. Nobody in the world knew their outcome.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Step 2: Score Strictly Zero-Shot:</a:t>
            </a:r>
            <a:br/>
            <a:r>
              <a:t>  Evo 2 scores the variants using only general DNA sequence grammar, completely isolated from future clinical updates.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Step 3: Reveal Future Resolution (t1):</a:t>
            </a:r>
            <a:br/>
            <a:r>
              <a:t>  Only after scores are locked, we check the August 6, 2026 snapshot to audit which way geneticists later resolved them.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Unbiased Real-World Audit:</a:t>
            </a:r>
            <a:br/>
            <a:r>
              <a:t>  Tests exactly what clinicians need: forecasting how an uncertain case will resolve before clinical evidence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Brixi et al. (2025) 'Genome modeling and design with Evo 2', bioRxiv; RENOVO longitudinal benchmark (2024); Rentzsch et al. (2019) CADD v1.4, Nucleic Acids 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SYSTEM IMPLEMENTATION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Full-Stack Architecture: Decoupled Web Platform to H100 Cloud GPU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A4"/>
                </a:solidFill>
              </a:defRPr>
            </a:pPr>
            <a:r>
              <a:t>1. USER INTERFACE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Next.js 15 &amp; React 19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Interactive Genome Explorer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NCBI Gene search &amp; chromosome navigation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10,000 bp nucleotide visual slider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One-click variant coordinate pre-fill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ClinVar comparison modal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Fast, responsive client-side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916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2. GATEWAY PROXY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Next.js App Router API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Proxies `/api/score/variant`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Solves browser cross-origin (CORS) limits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Secure server-to-server payload relay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Maps delta scores to UI confidence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Handles upstream error failsafes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Zero client-side secrets exposed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3. CLOUD GPU ENGINE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Modal Serverless H100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NVIDIA H100 80GB SXM5 GPU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Evo 2 (7B parameter) foundation model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In-memory container warm caching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PyTorch 2.4.0 + CUDA 12.4 runtime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Flash-Attention 2.6.3 with Vortex patch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Sub-3 second inference turnaround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6916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4748B"/>
                </a:solidFill>
              </a:defRPr>
            </a:pPr>
            <a:r>
              <a:t>4. BIOLOGICAL APIS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Reference Data Layer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UCSC Genome API: on-the-fly 8,192 bp sequence window extraction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NCBI Genes API: gene symbol &amp; exon mapping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NCBI ClinVar API: live clinical records</a:t>
            </a:r>
          </a:p>
          <a:p>
            <a:pPr>
              <a:spcBef>
                <a:spcPts val="500"/>
              </a:spcBef>
              <a:defRPr sz="950">
                <a:solidFill>
                  <a:srgbClr val="1B263B"/>
                </a:solidFill>
              </a:defRPr>
            </a:pPr>
            <a:r>
              <a:t>• Supports GRCh38 and GRCh37 assemblies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Architecture: Next.js 15, Modal Cloud Platform, NVIDIA H100 GPU; UCSC Genome Browser API (Kent et al., Genome Res. 2002); NCBI E-Utilities (Sayers et al., 2022).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IMPLEMENTATION PROGRESS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Working Modules Representing &gt;50% of the Approved Scope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3840480"/>
                <a:gridCol w="155448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Subsystem / Module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Engineering Implementation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Functions / Technology Stack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Current Operational Status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M7: Evo 2 Scoring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Persistent Modal Service (`evo2_scorer_app.py`)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Evo2 7B model loading, H100 GPU execution, FP8 inference, FlashAttention-2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M12-M13: Web Platform &amp;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Next.js 15 Full-Stack (`apps/web`)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GeneViewer, VariantAnalysis, SequenceSlider, ClinVarModal, Proxy route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M3-M4: Sequence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UCSC Context Fetcher (`sequence_window.py`)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8,192 bp centered windowing, 1-based to 0-based coordinate transformation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M9-M10: Scoring &amp; Thresholding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Delta log-likelihood &amp; ROC Youden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ROC curve optimization, optimal cutoff (-0.000918), class variance scaling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M14: Validation 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Comprehensive Pytest Suite (`tests/`)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570 automated tests passing (unit, contract, integration, scientific)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PASSING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Scope Note: Core software modules across the entire pipeline (sequence retrieval, GPU model serving, decision logic, and user UI) are fully implemented, tested, and operational.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Verification Artifacts: Test suite in `tests/` (570 passed); Modal deployment `evovariant-tr`; Local Next.js service on port 3000/3001.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MODEL ARCHITECTURE &amp; METHODOLOGY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The Core Engine: Evo 2 DNA Foundation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A5A4"/>
                </a:solidFill>
              </a:defRPr>
            </a:pPr>
            <a:r>
              <a:t>WHAT IS EVO 2? (IN SIMPLE TERMS)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A 'ChatGPT for DNA':</a:t>
            </a:r>
            <a:br/>
            <a:r>
              <a:t>  Text LLMs learn how human words fit together into sentences. Evo 2 learns how nucleotides (A, C, G, T) fit together into biologically functional genomes.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Massive Multi-Domain Pre-training:</a:t>
            </a:r>
            <a:br/>
            <a:r>
              <a:t>  Trained on trillions of DNA letters across bacteria, archaea, plants, and humans. It understands universal patterns of biological fitness.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StripedHyena Architecture:</a:t>
            </a:r>
            <a:br/>
            <a:r>
              <a:t>  Combines attention mechanisms with long-range implicit convolutional filters. Can evaluate sequence context up to 1 million base pairs (we extract 8,192 bp around the variant).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Zero-Shot Biology:</a:t>
            </a:r>
            <a:br/>
            <a:r>
              <a:t>  Evo 2 was NEVER trained on human disease labels. It evaluates variants purely by asking: 'Does this mutation sound like natural, healthy biology, or does it sound biologically aberrant?'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TECHNICAL SPECIFICATIONS &amp; RUNTIME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Parameter Scale: 7 Billion Parameters (7B checkpoint provides the ideal tradeoff between deep representation and real-time interactive speed).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Inference Infrastructure: NVIDIA H100 Tensor Core GPU (80GB SXM5, 3.35 TFLOPS FP8 compute).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Acceleration Stack: PyTorch 2.4.0 + CUDA 12.4 + FlashAttention-2.6.3 with patched Vortex attention interfaces.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Memory Optimization: Model weights loaded once per container lifecycle via `@modal.enter()`, keeping container warm for 120s between calls.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Latency Performance: Completes full forward sequence scoring + mutation injection in ~2.7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Brixi, G. et al. (2025) 'Genome modeling and design across all domains of life with Evo 2', Arc Institute / Stanford University / bioRxiv: 10.1101/2025.02.18.638918v1; Dao et al. FlashAttention-2 (2023).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SCORING METHODOLOGY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Computing the Delta Score: Measuring Biological Disruption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HOW THE SCORE IS COMPUTED (STEP-BY-STEP)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Step 1 — Healthy Reference Score (s_ref):</a:t>
            </a:r>
            <a:br/>
            <a:r>
              <a:t>We extract the centered 8,192 bp window of normal DNA around the mutation. Evo 2 computes the joint sequence log-likelihood:</a:t>
            </a:r>
            <a:br/>
            <a:r>
              <a:t>s_ref = (1 / L) * Σ log P(xi | x&lt;i)  [e.g. -0.9637]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Step 2 — Mutated Variant Score (s_var):</a:t>
            </a:r>
            <a:br/>
            <a:r>
              <a:t>We replace that single base with the mutation. Evo 2 evaluates the new mutated sequence likelihood:</a:t>
            </a:r>
            <a:br/>
            <a:r>
              <a:t>s_var = (1 / L) * Σ log P(x'i | x'&lt;i)  [e.g. -0.9655]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Step 3 — The Delta Score (Δ):</a:t>
            </a:r>
            <a:br/>
            <a:r>
              <a:t>We subtract the reference likelihood from the variant likelihood:</a:t>
            </a:r>
            <a:br/>
            <a:r>
              <a:t>Δ = s_var - s_ref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WHAT THE DELTA SCORE MEANS (IN PLAIN TERMS)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• Δ ≈ 0 (No Significant Drop):</a:t>
            </a:r>
            <a:br/>
            <a:r>
              <a:t>  The AI says: 'The mutated sentence still reads naturally in biological context. Evolution frequently permits this change.'</a:t>
            </a:r>
            <a:br/>
            <a:r>
              <a:t>--&gt; PREDICTION: Likely Benign (Harmless).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• Δ &lt;&lt; 0 (Sharp Negative Drop):</a:t>
            </a:r>
            <a:br/>
            <a:r>
              <a:t>  The AI says: 'This mutation severely disrupts the biological sequence pattern. It breaks the molecular grammar.'</a:t>
            </a:r>
            <a:br/>
            <a:r>
              <a:t>--&gt; PREDICTION: Likely Pathogenic (Disease-Causing).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• Why Log-Likelihood Ratio?:</a:t>
            </a:r>
            <a:br/>
            <a:r>
              <a:t>  Log-likelihood directly captures the relative evolutionary plausibility of the mutated allele compared to the wild-type allele across millions of evolutionary contexts.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Mathematical Formulation: Autoregressive Sequence Likelihood Ratio; Context Length L = 8,192 base pairs; Zero-shot log-odds estimation.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DECISION LOGIC &amp; CALIBRATION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Why the Threshold is Not Zero: Youden's J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WHY THE CUTOFF IS NOT EXACTLY 0.0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Natural Background Fluctuations:</a:t>
            </a:r>
            <a:br/>
            <a:r>
              <a:t>  In DNA, some harmless spelling changes cause slight neutral drops in likelihood purely due to codon frequency bias. They are completely harmless to health.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Preventing False Alarms:</a:t>
            </a:r>
            <a:br/>
            <a:r>
              <a:t>  If the threshold were set at 0.0, hundreds of harmless variants would be falsely called 'pathogenic diseases'.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Empirical Youden's J Optimization:</a:t>
            </a:r>
            <a:br/>
            <a:r>
              <a:t>  We used 3,893 real experimentally tested mutations to find the exact mathematical point that maximizes sensitivity while minimizing false alarms:</a:t>
            </a:r>
            <a:br/>
            <a:r>
              <a:t>J = Sensitivity + Specificity - 1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Optimal Calibrated Threshold (t):</a:t>
            </a:r>
            <a:br/>
            <a:r>
              <a:t>  t = -0.0009178519</a:t>
            </a:r>
            <a:br/>
            <a:r>
              <a:t>• If Δ &lt; t: Likely Pathogenic</a:t>
            </a:r>
            <a:br/>
            <a:r>
              <a:t>• If Δ &gt;= t: Likely Benign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HOW CONFIDENCE IS CALCULATED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Distance-to-Boundary Metric:</a:t>
            </a:r>
            <a:br/>
            <a:r>
              <a:t>  Confidence measures how far a variant's score is from the decision fence (-0.000918), scaled by the score spread (standard deviation) of that class: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Pathogenic Side (Δ &lt; t):</a:t>
            </a:r>
            <a:br/>
            <a:r>
              <a:t>  Confidence = min( 1.0,  |Δ - t| / σ_LOF )</a:t>
            </a:r>
            <a:br/>
            <a:r>
              <a:t>where σ_LOF = 0.0015140239 (loss-of-function score spread)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Benign Side (Δ &gt;= t):</a:t>
            </a:r>
            <a:br/>
            <a:r>
              <a:t>  Confidence = min( 1.0,  |Δ - t| / σ_FUNC )</a:t>
            </a:r>
            <a:br/>
            <a:r>
              <a:t>where σ_FUNC = 0.0009016589 (functional score spread)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Clinical Interpretability:</a:t>
            </a:r>
            <a:br/>
            <a:r>
              <a:t>  A variant touching the threshold yields ~0% confidence (borderline case). A variant deep in negative space yields 100% confidence. This avoids misleading black-box certainties.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Youden, W. J. (1950) 'Index for rating diagnostic tests', Cancer, 3(1):32-35; Calibration dataset: Findlay et al. (Nature 2018) 3,893 SNVs.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INTERACTIVE USER EXPERIENCE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Web Platform Capabilities: Gene Exploration to Live Clinical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A4"/>
                </a:solidFill>
              </a:defRPr>
            </a:pPr>
            <a:r>
              <a:t>1. GENE SEARCH &amp; NAVIGATION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NCBI Clinical Tables Integration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User searches by gene symbol (e.g. BRCA1, TP53, PTEN)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Dynamic resolution of chromosome coordinates and exon spans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Support for both GRCh38 (hg38) and GRCh37 (hg19) assemblies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Auto-centers genomic workspace on relevant gene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664208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2. 10,000 BP SEQUENCE VIEWER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Interactive Nucleotide Stream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Color-coded nucleotide visualization (A=green, T=red, G=yellow, C=blue)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Fluid coordinate scrubber slider across the entire gene region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Single-click letter selection directly from raw genomic stream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Pre-populates exact coordinate without tedious manual typing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A4"/>
                </a:solidFill>
              </a:defRPr>
            </a:pPr>
            <a:r>
              <a:t>3. LIVE VARIANT PREDICTION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Serverless H100 Cloud Inference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User selects alternative mutation allele (e.g. T &gt; C)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One-click submission triggers secure cloud inference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Returns delta score, classification, and confidence in ~2.7 seconds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Clearly flags research-use boundary and provenance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041648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4. CLINICAL CROSS-CHECK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Real-Time NCBI ClinVar Curation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Automatically queries ClinVar for existing submissions at this locus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Presents clinical classification history (Pathogenic, Benign, VUS)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Variant Comparison Modal contrasts Evo 2 prediction against curated records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Enables immediate clinical concordance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Frontend Stack: Next.js 15, React 19, TypeScript, Tailwind CSS, shadcn/ui; Live at `http://localhost:3000`.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EXPERIMENTAL BENCHMARK SETUP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Gold-Standard Ground Truth: BRCA1 Saturation Genome Editing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A5A4"/>
                </a:solidFill>
              </a:defRPr>
            </a:pPr>
            <a:r>
              <a:t>1. BENCHMARK DATASET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Gold Standard: Findlay et al. (Nature 2018).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Assay: CRISPR/Cas9 Saturation Genome Editing (SGE) of human BRCA1.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Ground Truth: Direct experimental cell-viability measurements across 13 critical exons.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Scope: 3,893 validated SNVs.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Labels: Loss of Function (LOF = Pathogenic) vs Functional / Intermediate (FUNC/INT = Benign).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2. LIVE CLOUD AUDIT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Audit Scope: 100 consecutive SNVs evaluated live via deployed Modal H100 endpoint.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Exact Production Route: Processed through real web API pipeline.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No Mocking / No Pre-calculation: True sequence extraction from UCSC + neural scoring.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Reproducibility: Every variant's predictions, delta score, and latency logged to disk.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Integrity: Output artifacts stored under `evaluation/results/final_100/`.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3. EVALUATION METRICS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AUROC: Measures continuous ranking discrimination between classes.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Accuracy: Overall fraction of concordant classifications.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Sensitivity (Recall): Proportion of true cancer mutations flagged (crucial for healthcare).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Specificity: Fraction of harmless variants correctly spared.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Inference Latency: Measured mean, median, and P95 latency on H100 GPU.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Findlay, G. M. et al. (2018) 'Accurate classification of BRCA1 variants with saturation genome editing', Nature, 562(7726):217-222; Supplementary Table MOESM3.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EMPIRICAL RESULTS OBTAINED SO FAR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Quantitative Evaluation Metrics from Live 100-Variant H100 Audit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246888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Measured Value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Scientific &amp; Clinical Meaning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API Reliability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100.0% (100/100)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0 crashes, 0 dropped calls, 100% 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AUROC (Discrimination)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0.9309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93% ranking separation between classes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Classification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90.00% (90/100)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Overall concordant clinical predictions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Sensitivity / 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75.00% (9 / 12)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Detects 3 out of 4 harmful mutations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Specificity (Benign Acc.)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92.05% (81 / 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81 benign variants correctly spared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Average Endpoint Latency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2.7015 seconds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Fast enough for real-time web exploration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06640" y="1554480"/>
            <a:ext cx="4023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173736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CONFUSION MATRIX ANALYSIS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True Negatives (TN = 81): 81 functional variants correctly identified as harmless (92% benign accuracy).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True Positives (TP = 9): 9 loss-of-function variants correctly flagged as Likely Pathogenic.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False Positives (FP = 7): 7 harmless variants flagged for closer scrutiny. In cancer screening, mild over-caution is standard practice.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False Negatives (FN = 3): Only 3 pathogenic variants missed, keeping dangerous false reassurance minimal.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Latency Profile: • Median: 2.599s</a:t>
            </a:r>
            <a:br/>
            <a:r>
              <a:t>• P95 Latency: 2.977s</a:t>
            </a:r>
            <a:br/>
            <a:r>
              <a:t>• Total 100-call wall time: 270.16s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Evaluation Artifacts: `evaluation/results/final_100/summary.txt` and `metrics.json`; Live endpoint run on Modal H100 GPU.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VISUAL PERFORMANCE ANALYSIS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Discrimination Curves: AUROC = 0.9309 and Precision-Recall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5488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ROC Curve: The steep initial rise demonstrates strong true-positive detection at very low false-positive rates, achieving an empirical AUROC of 0.9309.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cision_recall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84632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486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Precision-Recall Curve: Due to class imbalance (12 pathogenic vs 88 benign), PR confirms that sensitivity is maintained without excessive false alarm drift.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Data Source: Generated directly from 100 live endpoint delta scores logged in `evaluation/results/final_100/predictions.csv`.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OPERATIONAL PERFORMANCE ANALYSIS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Diagnostic Distributions: Confusion Matrix Heatmap &amp; Latency Profile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45920"/>
            <a:ext cx="457200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Confusion Matrix Heatmap: Clear diagonal concentration (81 TN, 9 TP) confirming that the zero-shot likelihood model generalizes accurately to unseen variants.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tency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84632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486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Latency Distribution: Tightly clustered around 2.5–2.8 seconds. 95% of calls complete under 3.0s, confirming operational feasibility for clinical web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Plotted using Seaborn &amp; Matplotlib from `evaluation/results/final_100/predictions.csv`; 100 consecutive calls on NVIDIA H100.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DIAGNOSTIC CASE STUDIES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Concrete Variant Examples from our Empirical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CASE 1: TRUE POSITIVE (CORRECT PATHOGENIC)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Variant Coordinate: BRCA1 pos 41276113, Alt: G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True Biological Class: Loss of Function (LOF / Pathogenic)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Model Delta Score: -0.001466 (sharp negative drop)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System Prediction: Likely Pathogenic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Confidence: 36.2% (clear distance beyond threshold -0.000918)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Interpretation: The model recognized that mutating this conserved base severely degrades sequence grammar, correctly catching a disease-causing mutation.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2C55E"/>
                </a:solidFill>
              </a:defRPr>
            </a:pPr>
            <a:r>
              <a:t>CASE 2: TRUE NEGATIVE (CORRECT BENIGN)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Variant Coordinate: BRCA1 pos 41276135, Alt: G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True Biological Class: Functional / Benign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Model Delta Score: -0.000077 (barely any drop from zero)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System Prediction: Likely Benign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Confidence: 93.3% (high certainty in benign zone)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Interpretation: The substitution is well-tolerated in evolutionary context. The system correctly spared the patient from a false alarm with 93%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CASE 3: BORDERLINE CASE (HONEST UNCERTAINTY)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Variant Coordinate: BRCA1 pos 41276110, Alt: A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True Biological Class: Functional (Benign)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Model Delta Score: -0.000935 (just barely past threshold -0.000918 by 0.000017)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System Prediction: Likely Pathogenic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Confidence: 1.1% (system flags near-zero certainty!)</a:t>
            </a:r>
          </a:p>
          <a:p>
            <a:pPr>
              <a:spcBef>
                <a:spcPts val="600"/>
              </a:spcBef>
              <a:defRPr sz="950">
                <a:solidFill>
                  <a:srgbClr val="1B263B"/>
                </a:solidFill>
              </a:defRPr>
            </a:pPr>
            <a:r>
              <a:t>• Interpretation: The score landed right on the boundary line. Because confidence was only 1.1%, clinicians are honestly informed that the case is borderline.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Exact row records extracted from `evaluation/results/final_100/predictions.csv` (Rows 65, 0, and 76).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ENGINEERING QUALITY &amp; GOVERNANCE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Software Rigor, Testing Harness, and Responsible Use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EA5A4"/>
                </a:solidFill>
              </a:defRPr>
            </a:pPr>
            <a:r>
              <a:t>570 PASSING TESTS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Unit Tests: Sequence window slicing, reverse complement invariance, and mathematical delta calculation.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Contract Tests: Pydantic schemas, UCSC and ClinVar API payload validation.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Integration Tests: Serverless endpoint handling, timeout recovery, and proxy translation.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Scientific Tests: Zero-peeking temporal isolation checks and frozen protocol hash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2563EB"/>
                </a:solidFill>
              </a:defRPr>
            </a:pPr>
            <a:r>
              <a:t>STRICT CODE STANDARDS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Strict Type Safety: Zero type errors across all 35 Python source files under `mypy --strict`.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Modern Linting: Clean automated linting and formatting via Ruff adhering to Python 3.12 standards.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Pre-Commit Security: Automated `check_secrets.sh` scanner prevents accidental API credential commits.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Frozen Protocol: Experiment parameters locked under SHA-256 hash in `research/protocol/protocol.yaml`.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EB5E41"/>
                </a:solidFill>
              </a:defRPr>
            </a:pPr>
            <a:r>
              <a:t>RESPONSIBLE USE POLICIES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Decision Support Boundary: Outputs are explicitly labeled as research probabilities, not standalone medical diagnoses.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Fail-Safe Principle: If cloud models are unreachable, explicit error statuses are returned — never fabricated scores.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Cost Governance: GPU inference is strictly protected by environment variable acknowledgement gates.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Full Provenance: Every prediction records model version, sequence context length, and timestamp.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Automated CI/CD Validation: `make validate` executes secret scan, ruff, mypy strict, and pytest across 570 test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PROJECT STATUS &amp; SCOPE DELIVERY</a:t>
            </a:r>
          </a:p>
          <a:p>
            <a:pPr>
              <a:spcBef>
                <a:spcPts val="300"/>
              </a:spcBef>
              <a:defRPr sz="2200" b="1">
                <a:solidFill>
                  <a:srgbClr val="1B263B"/>
                </a:solidFill>
              </a:defRPr>
            </a:pPr>
            <a:r>
              <a:t>Progress Summary: Work Completed vs. What is Left to Complete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2C55E"/>
                </a:solidFill>
              </a:defRPr>
            </a:pPr>
            <a:r>
              <a:t>WHAT WE HAVE COMPLETED (&gt; 50% APPROVED SCOPE)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Full-Stack Web Platform: Interactive Next.js 15 client with genome browsing, sequence sliding, and ClinVar cross-referencing.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Serverless GPU Serving: Modal H100 backend running Evo 2 7B in FP8 precision with custom Flash-Attention patches.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Scoring &amp; Thresholding Pipeline: Calibrated decision boundary (t = -0.000918) with class-conditional confidence scaling.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Live Empirical Audit: 100/100 successful inference calls on gold-standard BRCA1 benchmark with 0.9309 AUROC and 90% accuracy.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Quality Assurance: 570 passing automated tests, strict type checking, and automated secret scanners.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WHAT IS LEFT TO COMPLETE THE PROJECT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Full Temporal Cohort Execution: Scale scoring from the 100-variant audit to all 1,024 ClinVar temporal VUS variants across 389 genes.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Comparative Baseline Benchmarking: Run paired evaluations against established tools (CADD v1.7, PhyloP, REVEL) on identical variants.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Disjoint Gene-Grouped Calibration: Fit Platt scaling on the independent 1.22M variant calibration cohort.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Reverse-Complement (RC) Invariance Audit: Quantify forward vs. reverse-complement score agreement (Δfwd vs Δrc).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Batch Clinical File Uploader: Provide asynchronous upload interface for clinical whole-exome sequencing VCF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94A3B8"/>
                </a:solidFill>
              </a:defRPr>
            </a:pPr>
            <a:r>
              <a:t>REFERENCE: Project Tracking: Milestone Ledger documented in `docs/project/MILESTONE_STATUS.md`; Approved Scope Definition v1.0.1.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B5E41"/>
                </a:solidFill>
              </a:defRPr>
            </a:pPr>
            <a:r>
              <a:t>REVIEW III CONCLUSION</a:t>
            </a:r>
          </a:p>
          <a:p>
            <a:pPr>
              <a:spcBef>
                <a:spcPts val="600"/>
              </a:spcBef>
              <a:defRPr sz="2500" b="1">
                <a:solidFill>
                  <a:srgbClr val="FFFFFF"/>
                </a:solidFill>
              </a:defRPr>
            </a:pPr>
            <a:r>
              <a:t>EvoVariant: Validated Zero-Shot Genomic Inference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A5A4"/>
                </a:solidFill>
              </a:defRPr>
            </a:pPr>
            <a:r>
              <a:t>WORKING IMPLEMENTATION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Demonstrated a full-stack, cloud-deployed platform connecting interactive Next.js web client to serverless H100 GPU running Evo 2 7B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83464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017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RIGOROUS INTERIM RESULTS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Achieved 90% accuracy, 0.9309 AUROC, and 75% recall on gold-standard functional benchmark with sub-3s inference latency and 100% API stability.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83464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3017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CLEAR ROADMAP TO FINISH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Defined clear, executable next steps: scaling to the full 1,024-variant temporal cohort, comparator benchmarking against CADD, and batch VCF 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Thank You.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