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423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6760" y="21945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E293B"/>
                </a:solidFill>
              </a:defRPr>
            </a:pPr>
            <a:r>
              <a:rPr dirty="0"/>
              <a:t>VELLORE INSTITUTE OF TECHNOLOGY — CHENNAI</a:t>
            </a:r>
          </a:p>
          <a:p>
            <a:pPr algn="ctr">
              <a:spcBef>
                <a:spcPts val="400"/>
              </a:spcBef>
              <a:defRPr sz="1400">
                <a:solidFill>
                  <a:srgbClr val="64748B"/>
                </a:solidFill>
              </a:defRPr>
            </a:pPr>
            <a:r>
              <a:rPr dirty="0"/>
              <a:t>School of 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6760" y="2867601"/>
            <a:ext cx="10698480" cy="1328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rPr dirty="0" err="1"/>
              <a:t>B.Tech</a:t>
            </a:r>
            <a:r>
              <a:rPr dirty="0"/>
              <a:t> BCSE497J - Project - I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E14B2D"/>
                </a:solidFill>
              </a:defRPr>
            </a:pPr>
            <a:r>
              <a:rPr dirty="0"/>
              <a:t>REVIEW III – PANEL REVIEW</a:t>
            </a:r>
          </a:p>
          <a:p>
            <a:pPr algn="ctr">
              <a:spcBef>
                <a:spcPts val="800"/>
              </a:spcBef>
              <a:defRPr sz="1600">
                <a:solidFill>
                  <a:srgbClr val="1E293B"/>
                </a:solidFill>
              </a:defRPr>
            </a:pPr>
            <a:r>
              <a:rPr sz="2000" b="1" dirty="0" err="1"/>
              <a:t>EvoVariant</a:t>
            </a:r>
            <a:r>
              <a:rPr sz="2000" b="1" dirty="0"/>
              <a:t>: Zero-Shot DNA Foundation Model Platform for Human Genetic Variant Effect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4297680"/>
            <a:ext cx="7040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4389120"/>
            <a:ext cx="6675120" cy="181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rPr sz="1900" dirty="0"/>
              <a:t>PROJECT TEAM MEMBERS</a:t>
            </a:r>
          </a:p>
          <a:p>
            <a:pPr algn="ctr">
              <a:spcBef>
                <a:spcPts val="500"/>
              </a:spcBef>
              <a:defRPr sz="1400" b="1">
                <a:solidFill>
                  <a:srgbClr val="1E293B"/>
                </a:solidFill>
              </a:defRPr>
            </a:pPr>
            <a:r>
              <a:rPr sz="1900" dirty="0"/>
              <a:t>➢  Utkarsh Khajuria — 23BCE5053</a:t>
            </a:r>
          </a:p>
          <a:p>
            <a:pPr algn="ctr">
              <a:spcBef>
                <a:spcPts val="500"/>
              </a:spcBef>
              <a:defRPr sz="1400" b="1">
                <a:solidFill>
                  <a:srgbClr val="1E293B"/>
                </a:solidFill>
              </a:defRPr>
            </a:pPr>
            <a:r>
              <a:rPr sz="1900" dirty="0"/>
              <a:t>➢  Atharv Shiva Hiremath — 23BCE1460</a:t>
            </a:r>
          </a:p>
          <a:p>
            <a:pPr algn="ctr">
              <a:spcBef>
                <a:spcPts val="500"/>
              </a:spcBef>
              <a:defRPr sz="1400" b="1">
                <a:solidFill>
                  <a:srgbClr val="1E293B"/>
                </a:solidFill>
              </a:defRPr>
            </a:pPr>
            <a:r>
              <a:rPr sz="1900" dirty="0"/>
              <a:t>➢  Aryan Mishra — 23BCE1860</a:t>
            </a:r>
            <a:endParaRPr lang="en-US" sz="1900" dirty="0"/>
          </a:p>
          <a:p>
            <a:pPr algn="ctr">
              <a:spcBef>
                <a:spcPts val="500"/>
              </a:spcBef>
              <a:defRPr sz="1400" b="1">
                <a:solidFill>
                  <a:srgbClr val="1E293B"/>
                </a:solidFill>
              </a:defRPr>
            </a:pPr>
            <a:r>
              <a:rPr lang="en-US" sz="1900" dirty="0">
                <a:solidFill>
                  <a:srgbClr val="00B0F0"/>
                </a:solidFill>
              </a:rPr>
              <a:t>Faculty Guide</a:t>
            </a:r>
            <a:r>
              <a:rPr lang="en-US" sz="1900" dirty="0"/>
              <a:t>: Dr. Renuka Devi 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27244F-1E2A-CD52-DE86-1C4859EC3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951" y="254135"/>
            <a:ext cx="1940425" cy="1940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DOMAIN BACKGROUND &amp; MOTIVATION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The Clinical Dilemma: Resolving the Genetic 'Gray Zone' (VUS)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4B2D"/>
                </a:solidFill>
              </a:defRPr>
            </a:pPr>
            <a:r>
              <a:rPr sz="1600" dirty="0"/>
              <a:t>WHAT IS A VUS? (THE PROBLEM)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rPr sz="1600" dirty="0"/>
              <a:t>• VUS Defined: Variant of Uncertain Significance. A single DNA typo whose disease risk is unknown.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rPr sz="1600" dirty="0"/>
              <a:t>• Doctor Paralysis: Because evidence is missing, doctors cannot act, prescribe therapy, or clear patients.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rPr sz="1600" dirty="0"/>
              <a:t>• Years of Waiting: Patients remain in anxious limbo for 2 to 5+ years while labs slowly collect family data.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rPr sz="1600" dirty="0"/>
              <a:t>• Massive Scale: Over 1.4 million variants in </a:t>
            </a:r>
            <a:r>
              <a:rPr sz="1600" dirty="0" err="1"/>
              <a:t>ClinVar</a:t>
            </a:r>
            <a:r>
              <a:rPr sz="1600" dirty="0"/>
              <a:t> are currently trapped in this uncertain gray zone.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rPr sz="1600" dirty="0"/>
              <a:t>HOW CLINICAL LABS SORT VARIANTS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Box 1: Benign (Harmless):</a:t>
            </a:r>
            <a:br>
              <a:rPr sz="1600" dirty="0"/>
            </a:br>
            <a:r>
              <a:rPr sz="1600" dirty="0"/>
              <a:t>  Normal human variation. No medical intervention needed.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Box 2: Uncertain (VUS) — Our Focus:</a:t>
            </a:r>
            <a:br>
              <a:rPr sz="1600" dirty="0"/>
            </a:br>
            <a:r>
              <a:rPr sz="1600" dirty="0"/>
              <a:t>  The clinical gray zone. Genuinely unknown medical risk.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Box 3: Pathogenic (Disease-Causing):</a:t>
            </a:r>
            <a:br>
              <a:rPr sz="1600" dirty="0"/>
            </a:br>
            <a:r>
              <a:rPr sz="1600" dirty="0"/>
              <a:t>  Linked to disease/cancer. Medically actionable for treatment.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Our Solution (</a:t>
            </a:r>
            <a:r>
              <a:rPr sz="1600" dirty="0" err="1"/>
              <a:t>EvoVariant</a:t>
            </a:r>
            <a:r>
              <a:rPr sz="1600" dirty="0"/>
              <a:t>):</a:t>
            </a:r>
            <a:br>
              <a:rPr sz="1600" dirty="0"/>
            </a:br>
            <a:r>
              <a:rPr sz="1600" dirty="0"/>
              <a:t>  An AI platform that reads DNA sequence grammar to forecast early whether Box 2 resolves to Benign or Pathogenic.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ACMG/AMP Guidelines (Richards et al., Genetics in Medicine 2015); ClinVar Archive (Landrum et al., 2020). Abbreviations: VUS = Variant of Uncertain Significance; SNV = Single Nucleotide Variant.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LITERATURE REVIEW &amp; RESEARCH GAP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Why Most Existing Tests Suffer from Hindsight Bias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4748B"/>
                </a:solidFill>
              </a:defRPr>
            </a:pPr>
            <a:r>
              <a:rPr sz="1600" dirty="0"/>
              <a:t>RETROSPECTIVE TESTING (EXISTING TOOLS)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The 'Hindsight' Flaw:</a:t>
            </a:r>
            <a:br>
              <a:rPr sz="1600" dirty="0"/>
            </a:br>
            <a:r>
              <a:rPr sz="1600" dirty="0"/>
              <a:t>  Most AI tools test only on variants already proven benign or pathogenic. (Like grading a weather forecaster only on sunny days).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Data Leakage:</a:t>
            </a:r>
            <a:br>
              <a:rPr sz="1600" dirty="0"/>
            </a:br>
            <a:r>
              <a:rPr sz="1600" dirty="0"/>
              <a:t>  Predictors often inadvertently train on features derived from the exact same databases they test against.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Unrealistic Setting:</a:t>
            </a:r>
            <a:br>
              <a:rPr sz="1600" dirty="0"/>
            </a:br>
            <a:r>
              <a:rPr sz="1600" dirty="0"/>
              <a:t>  Fails to simulate the real-world challenge: making a genuine forward call on a patient case still open today.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4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rPr sz="1600" dirty="0"/>
              <a:t>OUR FORWARD-LOOKING 'TIME-MACHINE' TEST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✓ Step 1: Freeze Past VUS (t0):</a:t>
            </a:r>
            <a:br>
              <a:rPr sz="1600" dirty="0"/>
            </a:br>
            <a:r>
              <a:rPr sz="1600" dirty="0"/>
              <a:t>  We take </a:t>
            </a:r>
            <a:r>
              <a:rPr sz="1600" dirty="0" err="1"/>
              <a:t>ClinVar</a:t>
            </a:r>
            <a:r>
              <a:rPr sz="1600" dirty="0"/>
              <a:t> snapshot from Jan 2, 2025. All 1,024 variants were officially uncertain. Nobody knew the answer.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✓ Step 2: Score Strictly Zero-Shot:</a:t>
            </a:r>
            <a:br>
              <a:rPr sz="1600" dirty="0"/>
            </a:br>
            <a:r>
              <a:rPr sz="1600" dirty="0"/>
              <a:t>  Evo 2 scores them using only raw DNA grammar — without clinical labels or peeking.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✓ Step 3: Reveal Future Resolution (t1):</a:t>
            </a:r>
            <a:br>
              <a:rPr sz="1600" dirty="0"/>
            </a:br>
            <a:r>
              <a:rPr sz="1600" dirty="0"/>
              <a:t>  Only later, we check the Aug 6, 2026 snapshot to audit which way geneticists actually resolved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Brixi et al. (2025) 'Genome modeling with Evo 2', bioRxiv; RENOVO longitudinal benchmark (2024); Rentzsch et al. (2019) CADD v1.4, NAR.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SYSTEM IMPLEMENTATION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End-to-End Live Workflow: Browser to Cloud H100 GPU</a:t>
            </a:r>
          </a:p>
        </p:txBody>
      </p:sp>
      <p:pic>
        <p:nvPicPr>
          <p:cNvPr id="3" name="Picture 2" descr="demonstratio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10698480" cy="30175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4709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3108960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rPr dirty="0"/>
              <a:t>CLIENT INTERFACE (Next.js 15)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rPr dirty="0"/>
              <a:t>Interactive browser UI. Fast gene search, 10,000 bp nucleotide visual slider, and </a:t>
            </a:r>
            <a:r>
              <a:rPr dirty="0" err="1"/>
              <a:t>ClinVar</a:t>
            </a:r>
            <a:r>
              <a:rPr dirty="0"/>
              <a:t> modal.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709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475488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4B2D"/>
                </a:solidFill>
              </a:defRPr>
            </a:pPr>
            <a:r>
              <a:t>CLOUD INFERENCE (Modal H100)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Serverless NVIDIA H100 GPU (80GB). Loads 7B foundation model in memory. Computes variant score in ~2.7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709160"/>
            <a:ext cx="33832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80" y="4754880"/>
            <a:ext cx="31089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REFERENCE APIS (UCSC &amp; NCBI)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Queries UCSC Genome API for on-the-fly 8,192 bp sequence context. Queries NCBI E-Utilities for live clinical records.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Next.js 15 App Router, React 19, Modal H100 Serverless, FlashAttention-2.6.3; UCSC API (Kent et al., 2002); NCBI E-Utilities (2022).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IMPLEMENTATION SCOPE DELIVERY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Working Modules Representing &gt;50% of the Approved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Subsystem / Module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Engineering Implementation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Key Functions / Technology Stack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Operational Status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M7: Evo 2 Scoring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Persistent Modal Service (`evo2_scorer_app.py`)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Evo2 7B model loading, H100 GPU execution, FP8 inference, FlashAttention-2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M12-M13: Web Platform &amp;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Next.js 15 Full-Stack (`apps/web`)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GeneViewer, VariantAnalysis, SequenceSlider, ClinVarModal, Proxy route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M3-M4: Sequence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UCSC Context Fetcher (`sequence_window.py`)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8,192 bp centered windowing, 1-based to 0-based coordinate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M9-M10: Scoring &amp; Thresholding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Delta log-likelihood &amp; ROC Youden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ROC curve optimization, optimal cutoff (-0.000918), class variance scaling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M14: Validation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Comprehensive Pytest Suite (`tests/`)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570 automated tests passing (unit, contract, integration, scientific)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6A34A"/>
                          </a:solidFill>
                        </a:defRPr>
                      </a:pPr>
                      <a:r>
                        <a:t>PASSING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All primary execution pathways (sequence retrieval, GPU model serving, decision logic, and user UI) are 100% working and executable.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MODEL ARCHITECTURE &amp; METHODOLOGY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The Core Engine: Evo 2 DNA Foundation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rPr sz="1400" dirty="0"/>
              <a:t>A 'CHATGPT FOR DNA' (IN SIMPLE WORDS)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400" dirty="0"/>
              <a:t>• Reads the Grammar of Life:</a:t>
            </a:r>
            <a:br>
              <a:rPr sz="1400" dirty="0"/>
            </a:br>
            <a:r>
              <a:rPr sz="1400" dirty="0"/>
              <a:t>  Text models learn how words fit into sentences. Evo 2 learns how DNA letters (A, C, G, T) fit into functional genomes.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400" dirty="0"/>
              <a:t>• Massive Multi-Domain Training:</a:t>
            </a:r>
            <a:br>
              <a:rPr sz="1400" dirty="0"/>
            </a:br>
            <a:r>
              <a:rPr sz="1400" dirty="0"/>
              <a:t>  Trained on trillions of DNA letters across bacteria, plants, animals, and humans. It understands universal patterns of biological fitness.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400" dirty="0"/>
              <a:t>• </a:t>
            </a:r>
            <a:r>
              <a:rPr sz="1400" dirty="0" err="1"/>
              <a:t>StripedHyena</a:t>
            </a:r>
            <a:r>
              <a:rPr sz="1400" dirty="0"/>
              <a:t> Architecture:</a:t>
            </a:r>
            <a:br>
              <a:rPr sz="1400" dirty="0"/>
            </a:br>
            <a:r>
              <a:rPr sz="1400" dirty="0"/>
              <a:t>  Combines attention with long-range convolutional filters, enabling huge context windows (we extract 8,192 bp around the variant).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400" dirty="0"/>
              <a:t>• Zero-Shot Biology:</a:t>
            </a:r>
            <a:br>
              <a:rPr sz="1400" dirty="0"/>
            </a:br>
            <a:r>
              <a:rPr sz="1400" dirty="0"/>
              <a:t>  Evo 2 was NEVER trained on medical labels. It predicts by asking: 'Does this mutation sound like healthy biology, or broken grammar?'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rPr sz="1600" dirty="0"/>
              <a:t>TECHNICAL SPECIFICATIONS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Model Scale: 7 Billion Parameters (7B checkpoint provides deep biological representation with sub-3s interactive speed).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Hardware Runtime: NVIDIA H100 Tensor Core GPU (80GB SXM5) on Modal Serverless infrastructure.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Software Stack: </a:t>
            </a:r>
            <a:r>
              <a:rPr sz="1600" dirty="0" err="1"/>
              <a:t>PyTorch</a:t>
            </a:r>
            <a:r>
              <a:rPr sz="1600" dirty="0"/>
              <a:t> 2.4.0, CUDA 12.4, FlashAttention-2.6.3 with patched Vortex attention operators.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Warm Container Caching: Model weights stay cached in GPU RAM via `@</a:t>
            </a:r>
            <a:r>
              <a:rPr sz="1600" dirty="0" err="1"/>
              <a:t>modal.enter</a:t>
            </a:r>
            <a:r>
              <a:rPr sz="1600" dirty="0"/>
              <a:t>()`, ready for instant scoring.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Brixi et al. (2025) 'Genome modeling across all domains of life with Evo 2', Arc Institute &amp; Stanford University; Dao et al. (2023) FlashAttention-2.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SCORING METHODOLOGY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Computing the Delta Score: Measuring Biological Disruption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sz="1600" dirty="0"/>
              <a:t>THE 3-STEP CALCULATION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1. Healthy DNA Score (</a:t>
            </a:r>
            <a:r>
              <a:rPr sz="1600" dirty="0" err="1"/>
              <a:t>s_ref</a:t>
            </a:r>
            <a:r>
              <a:rPr sz="1600" dirty="0"/>
              <a:t>):</a:t>
            </a:r>
            <a:br>
              <a:rPr sz="1600" dirty="0"/>
            </a:br>
            <a:r>
              <a:rPr sz="1600" dirty="0"/>
              <a:t>  Evo 2 reads the normal 8,192 bp DNA sentence and gives it a biological fluency score (e.g. -0.9637).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2. Mutated DNA Score (</a:t>
            </a:r>
            <a:r>
              <a:rPr sz="1600" dirty="0" err="1"/>
              <a:t>s_var</a:t>
            </a:r>
            <a:r>
              <a:rPr sz="1600" dirty="0"/>
              <a:t>):</a:t>
            </a:r>
            <a:br>
              <a:rPr sz="1600" dirty="0"/>
            </a:br>
            <a:r>
              <a:rPr sz="1600" dirty="0"/>
              <a:t>  We swap in the single mutation letter (e.g. T &gt; C). Evo 2 gives the edited sentence a new fluency score (e.g. -0.9655).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3. The Difference — Delta Score (Δ):</a:t>
            </a:r>
            <a:br>
              <a:rPr sz="1600" dirty="0"/>
            </a:br>
            <a:r>
              <a:rPr sz="1600" dirty="0"/>
              <a:t>  Δ = </a:t>
            </a:r>
            <a:r>
              <a:rPr sz="1600" dirty="0" err="1"/>
              <a:t>s_var</a:t>
            </a:r>
            <a:r>
              <a:rPr sz="1600" dirty="0"/>
              <a:t> - </a:t>
            </a:r>
            <a:r>
              <a:rPr sz="1600" dirty="0" err="1"/>
              <a:t>s_ref</a:t>
            </a:r>
            <a:br>
              <a:rPr sz="1600" dirty="0"/>
            </a:br>
            <a:r>
              <a:rPr sz="1600" dirty="0"/>
              <a:t>Subtracting normal from mutated measures the drop in biological plausibility.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4317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rPr sz="1600" dirty="0"/>
              <a:t>WHAT THE DELTA SCORE MEANS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Δ ≈ 0 (No Significant Drop):</a:t>
            </a:r>
            <a:br>
              <a:rPr sz="1600" dirty="0"/>
            </a:br>
            <a:r>
              <a:rPr sz="1600" dirty="0"/>
              <a:t>  The AI says: 'The sentence still makes biological sense. Nature tolerates this mutation.'</a:t>
            </a:r>
            <a:br>
              <a:rPr sz="1600" dirty="0"/>
            </a:br>
            <a:r>
              <a:rPr sz="1600" dirty="0"/>
              <a:t>--&gt; Prediction: Likely Benign (Harmless).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Δ &lt;&lt; 0 (Sharp Negative Drop):</a:t>
            </a:r>
            <a:br>
              <a:rPr sz="1600" dirty="0"/>
            </a:br>
            <a:r>
              <a:rPr sz="1600" dirty="0"/>
              <a:t>  The AI says: 'This mutation destroys the biological grammar. It rarely or never occurs in nature.'</a:t>
            </a:r>
            <a:br>
              <a:rPr sz="1600" dirty="0"/>
            </a:br>
            <a:r>
              <a:rPr sz="1600" dirty="0"/>
              <a:t>--&gt; Prediction: Likely Pathogenic (Disease-Causing).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Log-Likelihood Ratio:</a:t>
            </a:r>
            <a:br>
              <a:rPr sz="1600" dirty="0"/>
            </a:br>
            <a:r>
              <a:rPr sz="1600" dirty="0"/>
              <a:t>  Measures relative evolutionary odds. More negative = stronger disruption.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Mathematical Formulation: Autoregressive Sequence Log-Likelihood Ratio; Context Length L = 8,192 base pairs; Zero-shot log-odds estimation.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DECISION LOGIC &amp; CALIBRATION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Why the Threshold is Not Zero: Youden's J Optimization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sz="1600" dirty="0"/>
              <a:t>WHY NOT CUT OFF AT EXACTLY 0.0?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600" dirty="0"/>
              <a:t>• Background Language Noise:</a:t>
            </a:r>
            <a:br>
              <a:rPr sz="1600" dirty="0"/>
            </a:br>
            <a:r>
              <a:rPr sz="1600" dirty="0"/>
              <a:t>  Some harmless spelling changes in DNA cause tiny neutral score drops just because they are slightly less common. They do NOT cause disease!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600" dirty="0"/>
              <a:t>• Preventing False Alarms:</a:t>
            </a:r>
            <a:br>
              <a:rPr sz="1600" dirty="0"/>
            </a:br>
            <a:r>
              <a:rPr sz="1600" dirty="0"/>
              <a:t>  If cutoff was 0.0, hundreds of harmless variants would be falsely called 'cancer risks'.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</a:defRPr>
            </a:pPr>
            <a:r>
              <a:rPr sz="1600" dirty="0"/>
              <a:t>• Youden's J Cutoff (t = -0.000918):</a:t>
            </a:r>
            <a:br>
              <a:rPr sz="1600" dirty="0"/>
            </a:br>
            <a:r>
              <a:rPr sz="1600" dirty="0"/>
              <a:t>  Optimized on 3,893 real lab mutations to find the exact line separating harmless noise from true biological failure:</a:t>
            </a:r>
            <a:br>
              <a:rPr sz="1600" dirty="0"/>
            </a:br>
            <a:r>
              <a:rPr sz="1600" dirty="0"/>
              <a:t>• If Δ &lt; -0.000918: Likely Pathogenic</a:t>
            </a:r>
            <a:br>
              <a:rPr sz="1600" dirty="0"/>
            </a:br>
            <a:r>
              <a:rPr sz="1600" dirty="0"/>
              <a:t>• If Δ &gt;= -0.000918: Likely Benign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rPr sz="1600" dirty="0"/>
              <a:t>HOW CONFIDENCE IS CALCULATED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Distance to the Danger Boundary:</a:t>
            </a:r>
            <a:br>
              <a:rPr sz="1600" dirty="0"/>
            </a:br>
            <a:r>
              <a:rPr sz="1600" dirty="0"/>
              <a:t>  Confidence measures how far a variant's score is from the -0.000918 fence line, divided by the score spread: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Formula:</a:t>
            </a:r>
            <a:br>
              <a:rPr sz="1600" dirty="0"/>
            </a:br>
            <a:r>
              <a:rPr sz="1600" dirty="0"/>
              <a:t>  Confidence = min( 1.0, |Δ - threshold| / spread )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rPr sz="1600" dirty="0"/>
              <a:t>• Honest Medical Transparency:</a:t>
            </a:r>
            <a:br>
              <a:rPr sz="1600" dirty="0"/>
            </a:br>
            <a:r>
              <a:rPr sz="1600" dirty="0"/>
              <a:t>  • A variant touching the line has ~5% confidence (borderline case).</a:t>
            </a:r>
            <a:br>
              <a:rPr sz="1600" dirty="0"/>
            </a:br>
            <a:r>
              <a:rPr sz="1600" dirty="0"/>
              <a:t>• A variant deep in negative space has 100% confidence.</a:t>
            </a:r>
            <a:br>
              <a:rPr sz="1600" dirty="0"/>
            </a:br>
            <a:r>
              <a:rPr sz="1600" dirty="0"/>
              <a:t>Clinicians are never misled by false certainty!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Youden, W. J. (1950) 'Index for rating diagnostic tests', Cancer, 3(1):32-35; Ground truth assay: Findlay et al. (Nature 2018) 3,893 SNVs.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BENCHMARK VALIDATION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Ground Truth: BRCA1 Saturation Genome Editing Assay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301752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D9488"/>
                </a:solidFill>
              </a:defRPr>
            </a:pPr>
            <a:r>
              <a:rPr sz="1600" dirty="0"/>
              <a:t>1. EXPERIMENTAL DATASET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Gold Standard: Findlay et al. (Nature 2018).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Assay Method: CRISPR Saturation Genome Editing (SGE) on human BRCA1.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Ground Truth: Direct cell-viability measurements across 13 exons.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Scope: 3,893 validated variants.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Classes: LOF (Loss of Function / Pathogenic) vs FUNC/INT (Functional / Benign).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017520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E14B2D"/>
                </a:solidFill>
              </a:defRPr>
            </a:pPr>
            <a:r>
              <a:rPr sz="1600" dirty="0"/>
              <a:t>2. LIVE CLOUD AUDIT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Live Run: 100 consecutive SNVs evaluated live via deployed Modal H100 endpoint.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Real Pipeline: Uses exact production web API path.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No Mock Data: Live UCSC sequence fetching + real 7B neural network inference.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Full Logging: Every variant score and latency saved to CSV on disk.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3017520" cy="3559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</a:defRPr>
            </a:pPr>
            <a:r>
              <a:rPr sz="1600" dirty="0"/>
              <a:t>3. EVALUATION METRICS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AUROC: 0 to 1 score ranking ability.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Accuracy: Total correct percentage.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Sensitivity (Recall): Catching dangerous cancer variants (critical for medicine).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Specificity: Sparing harmless variants.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• Latency: Speed per variant on H100.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Findlay, G. M. et al. (2018) 'Accurate classification of BRCA1 variants with saturation genome editing', Nature, 562:217-222. Abbreviations: SGE = Saturation Genome Editing; LOF = Loss of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EMPIRICAL RESULTS OBTAINED SO FAR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Quantitative Evaluation Metrics from Live 100-Variant H100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Means (Simple Words)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API Reliability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100.0% (100/100)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 crashes, 0 timeouts, 100% stability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AUROC (Discrimination)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93% ranking separation between classes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Classification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90.00% (90/100)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Overall correct clinical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Sensitivity / Recall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75.00% (9 / 12)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Detects 3 out of 4 cancer mutations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Specificity (Benign Acc.)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92.05% (81 / 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81 of 88 harmless variants spared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Average Endpoint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E14B2D"/>
                          </a:solidFill>
                        </a:defRPr>
                      </a:pPr>
                      <a:r>
                        <a:t>2.7015 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Fast enough for real-time web use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554480"/>
            <a:ext cx="4023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0" y="1737360"/>
            <a:ext cx="365760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rPr sz="1600" dirty="0"/>
              <a:t>CONFUSION MATRIX BREAKDOWN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True Negatives (TN = 81): 81 harmless variants correctly identified (92% benign accuracy).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True Positives (TP = 9): 9 cancer mutations correctly caught.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False Positives (FP = 7): 7 harmless variants flagged for closer look. Safe in medical screening.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False Negatives (FN = 3): Only 3 pathogenic variants missed.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600" dirty="0"/>
              <a:t>Speed Breakdown: • Median: 2.599s</a:t>
            </a:r>
            <a:br>
              <a:rPr sz="1600" dirty="0"/>
            </a:br>
            <a:r>
              <a:rPr sz="1600" dirty="0"/>
              <a:t>• P95 Latency: 2.977s</a:t>
            </a:r>
            <a:br>
              <a:rPr sz="1600" dirty="0"/>
            </a:br>
            <a:r>
              <a:rPr sz="1600" dirty="0"/>
              <a:t>• Total 100 calls: 270.16s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Logged Artifacts: `evaluation/results/final_100/summary.txt` &amp; `metrics.json`; AUROC = Area Under Receiver Operating Characteristic.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VISUAL PERFORMANCE ANALYSIS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How to Read the Curves: AUROC = 0.9309 and Precision-Recall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47548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4754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How to Read ROC: The closer the curve hugs the top-left corner, the better the test. AUROC of 0.9309 indicates exceptional discriminative separation.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rPr dirty="0"/>
              <a:t>How to Read PR: Tests performance on imbalanced data (only 12 pathogenic vs 88 benign). Confirms high recall without excessive false alarms.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Plotted from 100 live endpoint delta scores logged in `evaluation/results/final_100/predictions.csv`.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VISUAL OPERATIONAL ANALYSIS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Diagnostic Distributions: Confusion Matrix &amp; Latency 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4572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4864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How to Read Matrix: Dark diagonal squares (81 TN, 9 TP) prove the AI correctly sorts benign from pathogenic on unseen test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atency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486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How to Read Latency: Peak is tightly centered at 2.5–2.7s. 95% of calls complete under 3 seconds, proving practical web speed.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Evaluation Artifact: `evaluation/results/final_100/predictions.csv`; 100 consecutive calls on NVIDIA H100.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180801-E1BB-D763-EDE9-559AC4AC2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9A34C2-6BE9-0DC0-7C07-577DFF5C87C7}"/>
              </a:ext>
            </a:extLst>
          </p:cNvPr>
          <p:cNvSpPr txBox="1"/>
          <p:nvPr/>
        </p:nvSpPr>
        <p:spPr>
          <a:xfrm>
            <a:off x="731520" y="365760"/>
            <a:ext cx="10698480" cy="5770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rPr dirty="0"/>
              <a:t>VISUAL OPERATIONAL ANALYSIS</a:t>
            </a:r>
            <a:endParaRPr lang="en-GB" dirty="0"/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rPr lang="fr-FR" dirty="0"/>
              <a:t>Outputs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76532B-033C-5F4C-76B9-42896341D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199" y="1156183"/>
            <a:ext cx="9232490" cy="28793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A95A81-13A5-1135-E94A-E525E8438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199" y="4035517"/>
            <a:ext cx="9453360" cy="256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DIAGNOSTIC CASE STUDIES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Real Variant Examples from our Empirical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E14B2D"/>
                </a:solidFill>
              </a:defRPr>
            </a:pPr>
            <a:r>
              <a:rPr sz="1600" dirty="0"/>
              <a:t>CASE 1: TRUE POSITIVE (PATHOGENIC)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Variant: BRCA1 pos 41276113, Alt: 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True Label: LOF (Loss of Function)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Delta Score: -0.001466 (sharp drop)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Prediction: Likely Pathogenic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Confidence: 36.2%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Takeaway: The AI caught a severe biological breakdown and correctly classified it as pathogenic.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6A34A"/>
                </a:solidFill>
              </a:defRPr>
            </a:pPr>
            <a:r>
              <a:rPr sz="1600" dirty="0"/>
              <a:t>CASE 2: TRUE NEGATIVE (BENIGN)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Variant: BRCA1 pos 41276135, Alt: 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True Label: Functional (Benign)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Delta Score: -0.000077 (barely any drop)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Prediction: Likely Benign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Confidence: 93.3% (high certainty)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Takeaway: The mutation is harmless in context; system spared the patient from a false alarm.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01752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rPr sz="1600" dirty="0"/>
              <a:t>CASE 3: BORDERLINE (HONEST UNCERTAINTY)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Variant: BRCA1 pos 41276110, Alt: A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True Label: Functional (Benign)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Delta Score: -0.000935 (touching -0.000918)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Prediction: Likely Pathogenic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Confidence: 1.1% (near zero!)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Takeaway: Because it sits right on the boundary, confidence was 1.1%, honestly warning doctors that it is borderline.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Data Source: Extracted from `evaluation/results/final_100/predictions.csv` (Rows 65, 0, and 76).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ENGINEERING QUALITY &amp; GOVERNANCE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Software Rigor, Testing Harness, and Responsible Use Guardrails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3017520" cy="3457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rPr sz="1600" dirty="0"/>
              <a:t>570 PASSING TESTS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Unit Tests: Sequence window slicing, strand reversals, and delta calculation.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Contract Tests: </a:t>
            </a:r>
            <a:r>
              <a:rPr sz="1600" dirty="0" err="1"/>
              <a:t>Pydantic</a:t>
            </a:r>
            <a:r>
              <a:rPr sz="1600" dirty="0"/>
              <a:t> schemas and API payload validation.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Integration Tests: Serverless endpoint handling and timeout recovery.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Scientific Tests: Zero-peeking temporal isolation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rPr sz="1600" dirty="0"/>
              <a:t>STRICT CODE STANDARDS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Strict Type Safety: Zero type errors across all 35 Python files under `</a:t>
            </a:r>
            <a:r>
              <a:rPr sz="1600" dirty="0" err="1"/>
              <a:t>mypy</a:t>
            </a:r>
            <a:r>
              <a:rPr sz="1600" dirty="0"/>
              <a:t> --strict`.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Modern Linting: Clean automated linting and formatting via Ruff.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Pre-Commit Security: Automated `check_secrets.sh` scanner prevents secret leaks.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Frozen Protocol: SHA-256 locked in `research/protocol/</a:t>
            </a:r>
            <a:r>
              <a:rPr sz="1600" dirty="0" err="1"/>
              <a:t>protocol.yaml</a:t>
            </a:r>
            <a:r>
              <a:rPr sz="1600" dirty="0"/>
              <a:t>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691640"/>
            <a:ext cx="3017520" cy="3703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4B2D"/>
                </a:solidFill>
              </a:defRPr>
            </a:pPr>
            <a:r>
              <a:rPr sz="1600" dirty="0"/>
              <a:t>RESPONSIBLE USE POLICIES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Decision Support: Explicitly labeled as research probabilities, not medical diagnosis.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Fail-Safe: If cloud model is offline, returns clear error — never fakes a score.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Cost Protection: GPU inference requires explicit environment variable gates.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rPr sz="1600" dirty="0"/>
              <a:t>• Audit Trail: Every call logs model version, context length, and timestamp.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Local CI Verification: `make validate` executes secret scan, ruff, mypy strict, and pytest across 570 test cases.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PROJECT PROGRESS &amp; ROADMAP</a:t>
            </a:r>
          </a:p>
          <a:p>
            <a:pPr>
              <a:spcBef>
                <a:spcPts val="300"/>
              </a:spcBef>
              <a:defRPr sz="2400" b="1">
                <a:solidFill>
                  <a:srgbClr val="1E293B"/>
                </a:solidFill>
              </a:defRPr>
            </a:pPr>
            <a:r>
              <a:t>Scope Delivery: Work Completed vs. What is Left to Complete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475488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rPr sz="1400" dirty="0"/>
              <a:t>WHAT WE HAVE COMPLETED (&gt; 50% SCOPE)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✓ Full-Stack Web Platform: Interactive Next.js 15 client with genome browsing, sequence sliding, and </a:t>
            </a:r>
            <a:r>
              <a:rPr sz="1400" dirty="0" err="1"/>
              <a:t>ClinVar</a:t>
            </a:r>
            <a:r>
              <a:rPr sz="1400" dirty="0"/>
              <a:t> cross-referencing.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✓ Serverless GPU Serving: Modal H100 backend running Evo 2 7B in FP8 precision with custom Flash-Attention patches.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✓ Scoring &amp; Thresholding: Calibrated decision boundary (t = -0.000918) with class-conditional confidence scaling.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✓ Live Empirical Audit: 100/100 successful inference calls on gold-standard BRCA1 benchmark with 0.9309 AUROC and 90% accuracy.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✓ Engineering Rigor: 570 passing automated tests, strict </a:t>
            </a:r>
            <a:r>
              <a:rPr sz="1400" dirty="0" err="1"/>
              <a:t>mypy</a:t>
            </a:r>
            <a:r>
              <a:rPr sz="1400" dirty="0"/>
              <a:t> typing, and pre-commit secret scanners.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4846320" cy="3406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rPr sz="1400" dirty="0"/>
              <a:t>WHAT IS LEFT TO COMPLETE THE PROJECT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→ Full Temporal Cohort Execution: Scale scoring from the 100-variant audit to all 1,024 </a:t>
            </a:r>
            <a:r>
              <a:rPr sz="1400" dirty="0" err="1"/>
              <a:t>ClinVar</a:t>
            </a:r>
            <a:r>
              <a:rPr sz="1400" dirty="0"/>
              <a:t> temporal VUS variants across 389 genes.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→ Comparative Baseline Benchmarking: Run paired evaluations against established tools (CADD v1.7, </a:t>
            </a:r>
            <a:r>
              <a:rPr sz="1400" dirty="0" err="1"/>
              <a:t>PhyloP</a:t>
            </a:r>
            <a:r>
              <a:rPr sz="1400" dirty="0"/>
              <a:t>, REVEL) on identical variants.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→ Disjoint Gene-Grouped Calibration: Fit Platt scaling on the independent 1.22M variant calibration cohort.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→ Reverse-Complement (RC) Invariance Audit: Quantify forward vs. reverse-complement score agreement (</a:t>
            </a:r>
            <a:r>
              <a:rPr sz="1400" dirty="0" err="1"/>
              <a:t>Δfwd</a:t>
            </a:r>
            <a:r>
              <a:rPr sz="1400" dirty="0"/>
              <a:t> vs </a:t>
            </a:r>
            <a:r>
              <a:rPr sz="1400" dirty="0" err="1"/>
              <a:t>Δrc</a:t>
            </a:r>
            <a:r>
              <a:rPr sz="1400" dirty="0"/>
              <a:t>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 dirty="0"/>
              <a:t>→ Batch Clinical File Uploader: Provide asynchronous upload interface for clinical whole-exome sequencing VCF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8251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i="1">
                <a:solidFill>
                  <a:srgbClr val="94A3B8"/>
                </a:solidFill>
              </a:defRPr>
            </a:pPr>
            <a:r>
              <a:t>REFERENCE: Milestone Tracking: Documented in `docs/project/MILESTONE_STATUS.md`; Approved Research Protocol v1.0.1.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4B2D"/>
                </a:solidFill>
              </a:defRPr>
            </a:pPr>
            <a:r>
              <a:t>REVIEW III CONCLUSION</a:t>
            </a:r>
          </a:p>
          <a:p>
            <a:pPr>
              <a:spcBef>
                <a:spcPts val="600"/>
              </a:spcBef>
              <a:defRPr sz="2500" b="1">
                <a:solidFill>
                  <a:srgbClr val="FFFFFF"/>
                </a:solidFill>
              </a:defRPr>
            </a:pPr>
            <a:r>
              <a:t>EvoVariant: Validated Zero-Shot Genomic Inference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WORKING IMPLEMENTATION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Demonstrated a full-stack, cloud-deployed platform connecting interactive Next.js web client to serverless H100 GPU running Evo 2 7B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4B2D"/>
                </a:solidFill>
              </a:defRPr>
            </a:pPr>
            <a:r>
              <a:t>RIGOROUS INTERIM RESULTS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Achieved 90% accuracy, 0.9309 AUROC, and 75% recall on gold-standard functional benchmark with sub-3s inference latency and 100% API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CLEAR ROADMAP TO FINISH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Defined clear, executable next steps: scaling to the full 1,024-variant temporal cohort, comparator benchmarking against CADD, and batch VCF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You.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</TotalTime>
  <Words>3111</Words>
  <Application>Microsoft Office PowerPoint</Application>
  <PresentationFormat>Widescreen</PresentationFormat>
  <Paragraphs>233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Atharv Shiva Hiremath</cp:lastModifiedBy>
  <cp:revision>10</cp:revision>
  <dcterms:created xsi:type="dcterms:W3CDTF">2013-01-27T09:14:16Z</dcterms:created>
  <dcterms:modified xsi:type="dcterms:W3CDTF">2026-09-16T06:00:07Z</dcterms:modified>
  <cp:category/>
</cp:coreProperties>
</file>